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325" r:id="rId2"/>
    <p:sldId id="876" r:id="rId3"/>
    <p:sldId id="952" r:id="rId4"/>
    <p:sldId id="951" r:id="rId5"/>
    <p:sldId id="953" r:id="rId6"/>
    <p:sldId id="883" r:id="rId7"/>
    <p:sldId id="954" r:id="rId8"/>
    <p:sldId id="955" r:id="rId9"/>
    <p:sldId id="956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A83A021-0938-7A43-9F12-4B8B777A80D7}">
          <p14:sldIdLst>
            <p14:sldId id="325"/>
            <p14:sldId id="876"/>
            <p14:sldId id="952"/>
            <p14:sldId id="951"/>
            <p14:sldId id="953"/>
            <p14:sldId id="883"/>
            <p14:sldId id="954"/>
            <p14:sldId id="955"/>
            <p14:sldId id="956"/>
          </p14:sldIdLst>
        </p14:section>
        <p14:section name="参考范式" id="{396255C1-4EC7-4C48-B4F4-4FA1F68D8572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4A96"/>
    <a:srgbClr val="0C51A4"/>
    <a:srgbClr val="E6D4E7"/>
    <a:srgbClr val="C093C2"/>
    <a:srgbClr val="95C293"/>
    <a:srgbClr val="FF5F62"/>
    <a:srgbClr val="FBEDAE"/>
    <a:srgbClr val="D6B656"/>
    <a:srgbClr val="EC8681"/>
    <a:srgbClr val="FBE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549" autoAdjust="0"/>
    <p:restoredTop sz="69374" autoAdjust="0"/>
  </p:normalViewPr>
  <p:slideViewPr>
    <p:cSldViewPr snapToGrid="0">
      <p:cViewPr varScale="1">
        <p:scale>
          <a:sx n="112" d="100"/>
          <a:sy n="112" d="100"/>
        </p:scale>
        <p:origin x="107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9AAA400-2C00-E340-A532-14B2DAFB5993}" type="datetimeFigureOut">
              <a:rPr kumimoji="1" lang="zh-CN" altLang="en-US" smtClean="0"/>
              <a:pPr/>
              <a:t>2026/5/2</a:t>
            </a:fld>
            <a:endParaRPr kumimoji="1"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FDD367C-CAA7-534B-8B11-0622762BC61F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5328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老师好，这次作业我基于课件中的三个工具，搭建了一个完整的中文医疗问答检索系统，并加入了 </a:t>
            </a:r>
            <a:r>
              <a:rPr lang="en-US" altLang="zh-CN"/>
              <a:t>BM25 </a:t>
            </a:r>
            <a:r>
              <a:rPr lang="zh-CN" altLang="en-US"/>
              <a:t>基线作为对比。下面汇报。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FBEF3-F511-48E7-5ED1-9BE7608CB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19247D9-EDC2-47DF-69F9-633D1CBCB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0536226-E9A1-BB10-D0A7-9F1698558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任务是从 </a:t>
            </a:r>
            <a:r>
              <a:rPr lang="en-US" altLang="zh-CN"/>
              <a:t>10 </a:t>
            </a:r>
            <a:r>
              <a:rPr lang="zh-CN" altLang="en-US"/>
              <a:t>万条医疗答复中检索出与用户问题最相关的内容。我设计了两条线对比</a:t>
            </a:r>
            <a:r>
              <a:rPr lang="en-US" altLang="zh-CN"/>
              <a:t>——</a:t>
            </a:r>
            <a:r>
              <a:rPr lang="zh-CN" altLang="en-US"/>
              <a:t>传统的 </a:t>
            </a:r>
            <a:r>
              <a:rPr lang="en-US" altLang="zh-CN"/>
              <a:t>BM25 </a:t>
            </a:r>
            <a:r>
              <a:rPr lang="zh-CN" altLang="en-US"/>
              <a:t>关键词检索作为基线，以及 </a:t>
            </a:r>
            <a:r>
              <a:rPr lang="en-US" altLang="zh-CN"/>
              <a:t>sentence_transformers + faiss + rerankers </a:t>
            </a:r>
            <a:r>
              <a:rPr lang="zh-CN" altLang="en-US"/>
              <a:t>三件套构成的语义检索流水线，最后用 </a:t>
            </a:r>
            <a:r>
              <a:rPr lang="en-US" altLang="zh-CN"/>
              <a:t>Recall</a:t>
            </a:r>
            <a:r>
              <a:rPr lang="zh-CN" altLang="en-US"/>
              <a:t>、</a:t>
            </a:r>
            <a:r>
              <a:rPr lang="en-US" altLang="zh-CN"/>
              <a:t>MRR</a:t>
            </a:r>
            <a:r>
              <a:rPr lang="zh-CN" altLang="en-US"/>
              <a:t>、</a:t>
            </a:r>
            <a:r>
              <a:rPr lang="en-US" altLang="zh-CN"/>
              <a:t>NDCG </a:t>
            </a:r>
            <a:r>
              <a:rPr lang="zh-CN" altLang="en-US"/>
              <a:t>三种指标在标注集上评估。</a:t>
            </a:r>
            <a:endParaRPr lang="zh-CN" altLang="en-US" b="0" i="0" dirty="0">
              <a:effectLst/>
              <a:latin typeface="PingFang SC" panose="020B0400000000000000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9248A4-2D59-A4E6-C685-99C1A61F39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176D025-9C82-4627-AC95-A731BB73F6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0280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FBEF3-F511-48E7-5ED1-9BE7608CB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19247D9-EDC2-47DF-69F9-633D1CBCB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0536226-E9A1-BB10-D0A7-9F1698558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数据集分成三张表：</a:t>
            </a:r>
            <a:r>
              <a:rPr lang="en-US" altLang="zh-CN"/>
              <a:t>corpus </a:t>
            </a:r>
            <a:r>
              <a:rPr lang="zh-CN" altLang="en-US"/>
              <a:t>是 </a:t>
            </a:r>
            <a:r>
              <a:rPr lang="en-US" altLang="zh-CN"/>
              <a:t>10 </a:t>
            </a:r>
            <a:r>
              <a:rPr lang="zh-CN" altLang="en-US"/>
              <a:t>万条候选答复，</a:t>
            </a:r>
            <a:r>
              <a:rPr lang="en-US" altLang="zh-CN"/>
              <a:t>queries </a:t>
            </a:r>
            <a:r>
              <a:rPr lang="zh-CN" altLang="en-US"/>
              <a:t>是 </a:t>
            </a:r>
            <a:r>
              <a:rPr lang="en-US" altLang="zh-CN"/>
              <a:t>4000 </a:t>
            </a:r>
            <a:r>
              <a:rPr lang="zh-CN" altLang="en-US"/>
              <a:t>条患者提问，</a:t>
            </a:r>
            <a:r>
              <a:rPr lang="en-US" altLang="zh-CN"/>
              <a:t>qrels </a:t>
            </a:r>
            <a:r>
              <a:rPr lang="zh-CN" altLang="en-US"/>
              <a:t>是 </a:t>
            </a:r>
            <a:r>
              <a:rPr lang="en-US" altLang="zh-CN"/>
              <a:t>7000 </a:t>
            </a:r>
            <a:r>
              <a:rPr lang="zh-CN" altLang="en-US"/>
              <a:t>多条人工相关性标注。三表分离是检索任务的标准范式，因为同一问题可以有多个相关答案，分开存储能避免数据冗余，也方便评测时把 </a:t>
            </a:r>
            <a:r>
              <a:rPr lang="en-US" altLang="zh-CN"/>
              <a:t>qrels </a:t>
            </a:r>
            <a:r>
              <a:rPr lang="zh-CN" altLang="en-US"/>
              <a:t>当作</a:t>
            </a:r>
            <a:r>
              <a:rPr lang="en-US" altLang="zh-CN"/>
              <a:t>'</a:t>
            </a:r>
            <a:r>
              <a:rPr lang="zh-CN" altLang="en-US"/>
              <a:t>考试答案</a:t>
            </a:r>
            <a:r>
              <a:rPr lang="en-US" altLang="zh-CN"/>
              <a:t>'</a:t>
            </a:r>
            <a:r>
              <a:rPr lang="zh-CN" altLang="en-US"/>
              <a:t>隔离起来。</a:t>
            </a:r>
            <a:endParaRPr lang="zh-CN" altLang="en-US" b="0" i="0" dirty="0">
              <a:effectLst/>
              <a:latin typeface="PingFang SC" panose="020B0400000000000000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9248A4-2D59-A4E6-C685-99C1A61F39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176D025-9C82-4627-AC95-A731BB73F6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1200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43407-4E9C-A0DE-D7B0-09CE06B8A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FC61F12-6AA8-3778-3684-747F1F41F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A1CA2AB-192E-9EC9-7B78-6CF39F5645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向量化用的是 </a:t>
            </a:r>
            <a:r>
              <a:rPr lang="en-US" altLang="zh-CN"/>
              <a:t>BAAI </a:t>
            </a:r>
            <a:r>
              <a:rPr lang="zh-CN" altLang="en-US"/>
              <a:t>开源的 </a:t>
            </a:r>
            <a:r>
              <a:rPr lang="en-US" altLang="zh-CN"/>
              <a:t>bge-small-zh</a:t>
            </a:r>
            <a:r>
              <a:rPr lang="zh-CN" altLang="en-US"/>
              <a:t>，</a:t>
            </a:r>
            <a:r>
              <a:rPr lang="en-US" altLang="zh-CN"/>
              <a:t>512 </a:t>
            </a:r>
            <a:r>
              <a:rPr lang="zh-CN" altLang="en-US"/>
              <a:t>维，在中文医疗领域表现很好。</a:t>
            </a:r>
            <a:r>
              <a:rPr lang="en-US" altLang="zh-CN"/>
              <a:t>10 </a:t>
            </a:r>
            <a:r>
              <a:rPr lang="zh-CN" altLang="en-US"/>
              <a:t>万 </a:t>
            </a:r>
            <a:r>
              <a:rPr lang="en-US" altLang="zh-CN"/>
              <a:t>corpus </a:t>
            </a:r>
            <a:r>
              <a:rPr lang="zh-CN" altLang="en-US"/>
              <a:t>在 </a:t>
            </a:r>
            <a:r>
              <a:rPr lang="en-US" altLang="zh-CN"/>
              <a:t>4080 </a:t>
            </a:r>
            <a:r>
              <a:rPr lang="zh-CN" altLang="en-US"/>
              <a:t>上 </a:t>
            </a:r>
            <a:r>
              <a:rPr lang="en-US" altLang="zh-CN"/>
              <a:t>64 </a:t>
            </a:r>
            <a:r>
              <a:rPr lang="zh-CN" altLang="en-US"/>
              <a:t>秒就跑完了。这里有个关键操作是把向量做 </a:t>
            </a:r>
            <a:r>
              <a:rPr lang="en-US" altLang="zh-CN"/>
              <a:t>L2 </a:t>
            </a:r>
            <a:r>
              <a:rPr lang="zh-CN" altLang="en-US"/>
              <a:t>归一化，这样后面计算内积就等价于计算余弦相似度，可以直接用 </a:t>
            </a:r>
            <a:r>
              <a:rPr lang="en-US" altLang="zh-CN"/>
              <a:t>faiss </a:t>
            </a:r>
            <a:r>
              <a:rPr lang="zh-CN" altLang="en-US"/>
              <a:t>的内积索引。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AE71CA-DF34-85B6-A90F-7D42683DCC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176D025-9C82-4627-AC95-A731BB73F6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720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AE581-563A-99C0-8662-694B7F850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E417AE-4BB2-46C5-95FF-C59BA0F092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FFB0104-70F1-209A-AE40-7ADE10A93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索引用的是 </a:t>
            </a:r>
            <a:r>
              <a:rPr lang="en-US" altLang="zh-CN"/>
              <a:t>faiss </a:t>
            </a:r>
            <a:r>
              <a:rPr lang="zh-CN" altLang="en-US"/>
              <a:t>的 </a:t>
            </a:r>
            <a:r>
              <a:rPr lang="en-US" altLang="zh-CN"/>
              <a:t>IndexFlatIP </a:t>
            </a:r>
            <a:r>
              <a:rPr lang="zh-CN" altLang="en-US"/>
              <a:t>精确搜索，在 </a:t>
            </a:r>
            <a:r>
              <a:rPr lang="en-US" altLang="zh-CN"/>
              <a:t>10 </a:t>
            </a:r>
            <a:r>
              <a:rPr lang="zh-CN" altLang="en-US"/>
              <a:t>万规模下检索全部 </a:t>
            </a:r>
            <a:r>
              <a:rPr lang="en-US" altLang="zh-CN"/>
              <a:t>4000 </a:t>
            </a:r>
            <a:r>
              <a:rPr lang="zh-CN" altLang="en-US"/>
              <a:t>条 </a:t>
            </a:r>
            <a:r>
              <a:rPr lang="en-US" altLang="zh-CN"/>
              <a:t>query </a:t>
            </a:r>
            <a:r>
              <a:rPr lang="zh-CN" altLang="en-US"/>
              <a:t>只要 </a:t>
            </a:r>
            <a:r>
              <a:rPr lang="en-US" altLang="zh-CN"/>
              <a:t>487 </a:t>
            </a:r>
            <a:r>
              <a:rPr lang="zh-CN" altLang="en-US"/>
              <a:t>毫秒，毫秒级。下面这个例子可以看到，召回的 </a:t>
            </a:r>
            <a:r>
              <a:rPr lang="en-US" altLang="zh-CN"/>
              <a:t>Top5 </a:t>
            </a:r>
            <a:r>
              <a:rPr lang="zh-CN" altLang="en-US"/>
              <a:t>全部和</a:t>
            </a:r>
            <a:r>
              <a:rPr lang="en-US" altLang="zh-CN"/>
              <a:t>'</a:t>
            </a:r>
            <a:r>
              <a:rPr lang="zh-CN" altLang="en-US"/>
              <a:t>睾丸炎</a:t>
            </a:r>
            <a:r>
              <a:rPr lang="en-US" altLang="zh-CN"/>
              <a:t>/</a:t>
            </a:r>
            <a:r>
              <a:rPr lang="zh-CN" altLang="en-US"/>
              <a:t>男性不育</a:t>
            </a:r>
            <a:r>
              <a:rPr lang="en-US" altLang="zh-CN"/>
              <a:t>'</a:t>
            </a:r>
            <a:r>
              <a:rPr lang="zh-CN" altLang="en-US"/>
              <a:t>相关，召回质量是不错的。</a:t>
            </a:r>
            <a:endParaRPr lang="zh-CN" altLang="en-US" b="0" i="0" dirty="0">
              <a:effectLst/>
              <a:latin typeface="PingFang SC" panose="020B0400000000000000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85A3E8-F728-E9A6-0E1E-0D22B28A31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176D025-9C82-4627-AC95-A731BB73F6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3288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AE581-563A-99C0-8662-694B7F850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E417AE-4BB2-46C5-95FF-C59BA0F092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FFB0104-70F1-209A-AE40-7ADE10A93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重排阶段用 </a:t>
            </a:r>
            <a:r>
              <a:rPr lang="en-US" altLang="zh-CN"/>
              <a:t>cross-encoder </a:t>
            </a:r>
            <a:r>
              <a:rPr lang="zh-CN" altLang="en-US"/>
              <a:t>模型，把 </a:t>
            </a:r>
            <a:r>
              <a:rPr lang="en-US" altLang="zh-CN"/>
              <a:t>query </a:t>
            </a:r>
            <a:r>
              <a:rPr lang="zh-CN" altLang="en-US"/>
              <a:t>和每个候选 </a:t>
            </a:r>
            <a:r>
              <a:rPr lang="en-US" altLang="zh-CN"/>
              <a:t>doc </a:t>
            </a:r>
            <a:r>
              <a:rPr lang="zh-CN" altLang="en-US"/>
              <a:t>拼起来送进模型重新打分。可以看到一个有意思的现象</a:t>
            </a:r>
            <a:r>
              <a:rPr lang="en-US" altLang="zh-CN"/>
              <a:t>——</a:t>
            </a:r>
            <a:r>
              <a:rPr lang="zh-CN" altLang="en-US"/>
              <a:t>重排把原来的 </a:t>
            </a:r>
            <a:r>
              <a:rPr lang="en-US" altLang="zh-CN"/>
              <a:t>Top1 </a:t>
            </a:r>
            <a:r>
              <a:rPr lang="zh-CN" altLang="en-US"/>
              <a:t>推到了 </a:t>
            </a:r>
            <a:r>
              <a:rPr lang="en-US" altLang="zh-CN"/>
              <a:t>Top2</a:t>
            </a:r>
            <a:r>
              <a:rPr lang="zh-CN" altLang="en-US"/>
              <a:t>，而把一条更全面的</a:t>
            </a:r>
            <a:r>
              <a:rPr lang="en-US" altLang="zh-CN"/>
              <a:t>'</a:t>
            </a:r>
            <a:r>
              <a:rPr lang="zh-CN" altLang="en-US"/>
              <a:t>教科书式</a:t>
            </a:r>
            <a:r>
              <a:rPr lang="en-US" altLang="zh-CN"/>
              <a:t>'</a:t>
            </a:r>
            <a:r>
              <a:rPr lang="zh-CN" altLang="en-US"/>
              <a:t>医学定义提到了 </a:t>
            </a:r>
            <a:r>
              <a:rPr lang="en-US" altLang="zh-CN"/>
              <a:t>Top1</a:t>
            </a:r>
            <a:r>
              <a:rPr lang="zh-CN" altLang="en-US"/>
              <a:t>。这说明 </a:t>
            </a:r>
            <a:r>
              <a:rPr lang="en-US" altLang="zh-CN"/>
              <a:t>cross-encoder </a:t>
            </a:r>
            <a:r>
              <a:rPr lang="zh-CN" altLang="en-US"/>
              <a:t>倾向于把综合性强、信息密度高的答案排到前面，更适合作为 </a:t>
            </a:r>
            <a:r>
              <a:rPr lang="en-US" altLang="zh-CN"/>
              <a:t>RAG </a:t>
            </a:r>
            <a:r>
              <a:rPr lang="zh-CN" altLang="en-US"/>
              <a:t>的知识来源。</a:t>
            </a:r>
            <a:endParaRPr lang="zh-CN" altLang="en-US" b="0" i="0" dirty="0">
              <a:effectLst/>
              <a:latin typeface="PingFang SC" panose="020B0400000000000000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85A3E8-F728-E9A6-0E1E-0D22B28A31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176D025-9C82-4627-AC95-A731BB73F6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7448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AE581-563A-99C0-8662-694B7F850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E417AE-4BB2-46C5-95FF-C59BA0F092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FFB0104-70F1-209A-AE40-7ADE10A93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/>
              <a:t>这是核心结论</a:t>
            </a:r>
            <a:r>
              <a:rPr lang="en-US" altLang="zh-CN"/>
              <a:t>——</a:t>
            </a:r>
            <a:r>
              <a:rPr lang="zh-CN" altLang="en-US"/>
              <a:t>三个方案在三种指标上的对比。最直观的发现是：向量检索的 </a:t>
            </a:r>
            <a:r>
              <a:rPr lang="en-US" altLang="zh-CN"/>
              <a:t>Recall@10 </a:t>
            </a:r>
            <a:r>
              <a:rPr lang="zh-CN" altLang="en-US"/>
              <a:t>是 </a:t>
            </a:r>
            <a:r>
              <a:rPr lang="en-US" altLang="zh-CN"/>
              <a:t>BM25 </a:t>
            </a:r>
            <a:r>
              <a:rPr lang="zh-CN" altLang="en-US"/>
              <a:t>的 </a:t>
            </a:r>
            <a:r>
              <a:rPr lang="en-US" altLang="zh-CN"/>
              <a:t>2.4 </a:t>
            </a:r>
            <a:r>
              <a:rPr lang="zh-CN" altLang="en-US"/>
              <a:t>倍，几乎是质变级提升。这是因为医疗问答里有大量同义表达，</a:t>
            </a:r>
            <a:r>
              <a:rPr lang="en-US" altLang="zh-CN"/>
              <a:t>BM25 </a:t>
            </a:r>
            <a:r>
              <a:rPr lang="zh-CN" altLang="en-US"/>
              <a:t>只看字面词形匹配，而向量模型能理解语义。在向量召回的基础上加重排，再涨 </a:t>
            </a:r>
            <a:r>
              <a:rPr lang="en-US" altLang="zh-CN"/>
              <a:t>7~10 </a:t>
            </a:r>
            <a:r>
              <a:rPr lang="zh-CN" altLang="en-US"/>
              <a:t>个点，是渐进式优化。关于耗时方面，做完所有实验后我发现一个反直觉的现象</a:t>
            </a:r>
            <a:r>
              <a:rPr lang="en-US" altLang="zh-CN"/>
              <a:t>——'</a:t>
            </a:r>
            <a:r>
              <a:rPr lang="zh-CN" altLang="en-US"/>
              <a:t>看起来更简单</a:t>
            </a:r>
            <a:r>
              <a:rPr lang="en-US" altLang="zh-CN"/>
              <a:t>'</a:t>
            </a:r>
            <a:r>
              <a:rPr lang="zh-CN" altLang="en-US"/>
              <a:t>的 </a:t>
            </a:r>
            <a:r>
              <a:rPr lang="en-US" altLang="zh-CN"/>
              <a:t>BM25 </a:t>
            </a:r>
            <a:r>
              <a:rPr lang="zh-CN" altLang="en-US"/>
              <a:t>反而是流水线最慢的一步。原因是它要对每条 </a:t>
            </a:r>
            <a:r>
              <a:rPr lang="en-US" altLang="zh-CN"/>
              <a:t>query </a:t>
            </a:r>
            <a:r>
              <a:rPr lang="zh-CN" altLang="en-US"/>
              <a:t>遍历整个 </a:t>
            </a:r>
            <a:r>
              <a:rPr lang="en-US" altLang="zh-CN"/>
              <a:t>10 </a:t>
            </a:r>
            <a:r>
              <a:rPr lang="zh-CN" altLang="en-US"/>
              <a:t>万 </a:t>
            </a:r>
            <a:r>
              <a:rPr lang="en-US" altLang="zh-CN"/>
              <a:t>corpus </a:t>
            </a:r>
            <a:r>
              <a:rPr lang="zh-CN" altLang="en-US"/>
              <a:t>算 </a:t>
            </a:r>
            <a:r>
              <a:rPr lang="en-US" altLang="zh-CN"/>
              <a:t>BM25 </a:t>
            </a:r>
            <a:r>
              <a:rPr lang="zh-CN" altLang="en-US"/>
              <a:t>分数，而向量检索通过 </a:t>
            </a:r>
            <a:r>
              <a:rPr lang="en-US" altLang="zh-CN"/>
              <a:t>faiss </a:t>
            </a:r>
            <a:r>
              <a:rPr lang="zh-CN" altLang="en-US"/>
              <a:t>索引可以毫秒完成。这也印证了课件里提到的两阶段设计的合理性：召回追求高召回率快速圈出候选，重排只在候选上精排，整体既快又准。</a:t>
            </a:r>
            <a:endParaRPr lang="zh-CN" altLang="en-US" b="0" i="0">
              <a:effectLst/>
              <a:latin typeface="PingFang SC" panose="020B0400000000000000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 dirty="0">
              <a:effectLst/>
              <a:latin typeface="PingFang SC" panose="020B0400000000000000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85A3E8-F728-E9A6-0E1E-0D22B28A31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176D025-9C82-4627-AC95-A731BB73F6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52936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FBEF3-F511-48E7-5ED1-9BE7608CB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19247D9-EDC2-47DF-69F9-633D1CBCB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0536226-E9A1-BB10-D0A7-9F1698558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这一页是重排为什么有效的具体证据。这条 </a:t>
            </a:r>
            <a:r>
              <a:rPr lang="en-US" altLang="zh-CN"/>
              <a:t>Query </a:t>
            </a:r>
            <a:r>
              <a:rPr lang="zh-CN" altLang="en-US"/>
              <a:t>问的是</a:t>
            </a:r>
            <a:r>
              <a:rPr lang="en-US" altLang="zh-CN"/>
              <a:t>'</a:t>
            </a:r>
            <a:r>
              <a:rPr lang="zh-CN" altLang="en-US"/>
              <a:t>脚跟骨裂</a:t>
            </a:r>
            <a:r>
              <a:rPr lang="en-US" altLang="zh-CN"/>
              <a:t>'</a:t>
            </a:r>
            <a:r>
              <a:rPr lang="zh-CN" altLang="en-US"/>
              <a:t>，向量召回的 </a:t>
            </a:r>
            <a:r>
              <a:rPr lang="en-US" altLang="zh-CN"/>
              <a:t>Top3 </a:t>
            </a:r>
            <a:r>
              <a:rPr lang="zh-CN" altLang="en-US"/>
              <a:t>全是泛泛的</a:t>
            </a:r>
            <a:r>
              <a:rPr lang="en-US" altLang="zh-CN"/>
              <a:t>'</a:t>
            </a:r>
            <a:r>
              <a:rPr lang="zh-CN" altLang="en-US"/>
              <a:t>右脚骨裂</a:t>
            </a:r>
            <a:r>
              <a:rPr lang="en-US" altLang="zh-CN"/>
              <a:t>'</a:t>
            </a:r>
            <a:r>
              <a:rPr lang="zh-CN" altLang="en-US"/>
              <a:t>、</a:t>
            </a:r>
            <a:r>
              <a:rPr lang="en-US" altLang="zh-CN"/>
              <a:t>'</a:t>
            </a:r>
            <a:r>
              <a:rPr lang="zh-CN" altLang="en-US"/>
              <a:t>裂纹骨折</a:t>
            </a:r>
            <a:r>
              <a:rPr lang="en-US" altLang="zh-CN"/>
              <a:t>'</a:t>
            </a:r>
            <a:r>
              <a:rPr lang="zh-CN" altLang="en-US"/>
              <a:t>相关答复</a:t>
            </a:r>
            <a:r>
              <a:rPr lang="en-US" altLang="zh-CN"/>
              <a:t>——</a:t>
            </a:r>
            <a:r>
              <a:rPr lang="zh-CN" altLang="en-US"/>
              <a:t>字面相似，但都没扣住</a:t>
            </a:r>
            <a:r>
              <a:rPr lang="en-US" altLang="zh-CN"/>
              <a:t>'</a:t>
            </a:r>
            <a:r>
              <a:rPr lang="zh-CN" altLang="en-US"/>
              <a:t>跟骨</a:t>
            </a:r>
            <a:r>
              <a:rPr lang="en-US" altLang="zh-CN"/>
              <a:t>'</a:t>
            </a:r>
            <a:r>
              <a:rPr lang="zh-CN" altLang="en-US"/>
              <a:t>这个具体部位。真正讲跟骨骨折手术指征的标准答案，被向量召回排到了第 </a:t>
            </a:r>
            <a:r>
              <a:rPr lang="en-US" altLang="zh-CN"/>
              <a:t>48 </a:t>
            </a:r>
            <a:r>
              <a:rPr lang="zh-CN" altLang="en-US"/>
              <a:t>名，几乎进不了 </a:t>
            </a:r>
            <a:r>
              <a:rPr lang="en-US" altLang="zh-CN"/>
              <a:t>Top10</a:t>
            </a:r>
            <a:r>
              <a:rPr lang="zh-CN" altLang="en-US"/>
              <a:t>。</a:t>
            </a:r>
          </a:p>
          <a:p>
            <a:r>
              <a:rPr lang="zh-CN" altLang="en-US"/>
              <a:t>重排阶段把 </a:t>
            </a:r>
            <a:r>
              <a:rPr lang="en-US" altLang="zh-CN"/>
              <a:t>query </a:t>
            </a:r>
            <a:r>
              <a:rPr lang="zh-CN" altLang="en-US"/>
              <a:t>和每个候选文档拼成一对送进 </a:t>
            </a:r>
            <a:r>
              <a:rPr lang="en-US" altLang="zh-CN"/>
              <a:t>cross-encoder </a:t>
            </a:r>
            <a:r>
              <a:rPr lang="zh-CN" altLang="en-US"/>
              <a:t>模型联合打分，模型能直接判断</a:t>
            </a:r>
            <a:r>
              <a:rPr lang="en-US" altLang="zh-CN"/>
              <a:t>'query </a:t>
            </a:r>
            <a:r>
              <a:rPr lang="zh-CN" altLang="en-US"/>
              <a:t>问跟骨，候选答的也是跟骨</a:t>
            </a:r>
            <a:r>
              <a:rPr lang="en-US" altLang="zh-CN"/>
              <a:t>'</a:t>
            </a:r>
            <a:r>
              <a:rPr lang="zh-CN" altLang="en-US"/>
              <a:t>这种</a:t>
            </a:r>
            <a:r>
              <a:rPr lang="zh-CN" altLang="en-US" b="1"/>
              <a:t>精确语义匹配</a:t>
            </a:r>
            <a:r>
              <a:rPr lang="zh-CN" altLang="en-US"/>
              <a:t>，于是把第 </a:t>
            </a:r>
            <a:r>
              <a:rPr lang="en-US" altLang="zh-CN"/>
              <a:t>48 </a:t>
            </a:r>
            <a:r>
              <a:rPr lang="zh-CN" altLang="en-US"/>
              <a:t>名的答案一下推到 </a:t>
            </a:r>
            <a:r>
              <a:rPr lang="en-US" altLang="zh-CN"/>
              <a:t>Top1</a:t>
            </a:r>
            <a:r>
              <a:rPr lang="zh-CN" altLang="en-US"/>
              <a:t>，提升了 </a:t>
            </a:r>
            <a:r>
              <a:rPr lang="en-US" altLang="zh-CN"/>
              <a:t>47 </a:t>
            </a:r>
            <a:r>
              <a:rPr lang="zh-CN" altLang="en-US"/>
              <a:t>位。</a:t>
            </a:r>
          </a:p>
          <a:p>
            <a:r>
              <a:rPr lang="zh-CN" altLang="en-US"/>
              <a:t>这个案例说明重排不是边际性的小优化，而是真正解决了</a:t>
            </a:r>
            <a:r>
              <a:rPr lang="en-US" altLang="zh-CN"/>
              <a:t>'</a:t>
            </a:r>
            <a:r>
              <a:rPr lang="zh-CN" altLang="en-US"/>
              <a:t>字面相似 </a:t>
            </a:r>
            <a:r>
              <a:rPr lang="en-US" altLang="zh-CN"/>
              <a:t>vs </a:t>
            </a:r>
            <a:r>
              <a:rPr lang="zh-CN" altLang="en-US"/>
              <a:t>真正相关</a:t>
            </a:r>
            <a:r>
              <a:rPr lang="en-US" altLang="zh-CN"/>
              <a:t>'</a:t>
            </a:r>
            <a:r>
              <a:rPr lang="zh-CN" altLang="en-US"/>
              <a:t>的问题</a:t>
            </a:r>
            <a:r>
              <a:rPr lang="en-US" altLang="zh-CN"/>
              <a:t>——</a:t>
            </a:r>
            <a:r>
              <a:rPr lang="zh-CN" altLang="en-US"/>
              <a:t>这也是为什么 </a:t>
            </a:r>
            <a:r>
              <a:rPr lang="en-US" altLang="zh-CN"/>
              <a:t>cross-encoder </a:t>
            </a:r>
            <a:r>
              <a:rPr lang="zh-CN" altLang="en-US"/>
              <a:t>重排在工业级 </a:t>
            </a:r>
            <a:r>
              <a:rPr lang="en-US" altLang="zh-CN"/>
              <a:t>RAG </a:t>
            </a:r>
            <a:r>
              <a:rPr lang="zh-CN" altLang="en-US"/>
              <a:t>系统中是标配环节。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9248A4-2D59-A4E6-C685-99C1A61F39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176D025-9C82-4627-AC95-A731BB73F6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60716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FBEF3-F511-48E7-5ED1-9BE7608CB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19247D9-EDC2-47DF-69F9-633D1CBCB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0536226-E9A1-BB10-D0A7-9F1698558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总结一下：本次作业完整实现了课件要求的四阶段检索系统，并通过 </a:t>
            </a:r>
            <a:r>
              <a:rPr lang="en-US" altLang="zh-CN"/>
              <a:t>BM25 </a:t>
            </a:r>
            <a:r>
              <a:rPr lang="zh-CN" altLang="en-US"/>
              <a:t>基线、多指标评估、耗时对比等加分点，让结果更有说服力。这套代码可以直接复用到我们组的期末项目</a:t>
            </a:r>
            <a:r>
              <a:rPr lang="en-US" altLang="zh-CN"/>
              <a:t>——</a:t>
            </a:r>
            <a:r>
              <a:rPr lang="zh-CN" altLang="en-US"/>
              <a:t>三高知识问答系统的 </a:t>
            </a:r>
            <a:r>
              <a:rPr lang="en-US" altLang="zh-CN"/>
              <a:t>RAG </a:t>
            </a:r>
            <a:r>
              <a:rPr lang="zh-CN" altLang="en-US"/>
              <a:t>检索模块上。汇报到此，谢谢老师。</a:t>
            </a:r>
            <a:endParaRPr lang="zh-CN" altLang="en-US" b="0" i="0" dirty="0">
              <a:effectLst/>
              <a:latin typeface="PingFang SC" panose="020B0400000000000000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9248A4-2D59-A4E6-C685-99C1A61F39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176D025-9C82-4627-AC95-A731BB73F6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0368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CC4B27-2BF4-7B88-F346-4EC3B9D9D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1F68DBE-A278-6CF8-230F-2267EBFE59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77E897-39DD-6D0C-501D-63413072A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8E13-2599-0048-AA9C-D29873ADD5BD}" type="datetimeFigureOut">
              <a:rPr kumimoji="1" lang="zh-CN" altLang="en-US" smtClean="0"/>
              <a:t>2026/5/2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18C218-3704-7120-2A70-FC90F912C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F101F5-AB66-5589-C737-18BABA3A8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15A74-C2B1-B745-88BF-F8EF16201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5910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92BE8A-0532-43DC-E5D7-9FF4A1623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F959D3-74EA-E936-CEF3-A9A0DA7CA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FDDEC6-C388-07E4-3A22-F86BEC5F6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8E13-2599-0048-AA9C-D29873ADD5BD}" type="datetimeFigureOut">
              <a:rPr kumimoji="1" lang="zh-CN" altLang="en-US" smtClean="0"/>
              <a:t>2026/5/2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1825B8-3D1D-53FB-7920-0EC009BF2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9DEEF5-4347-E91B-8770-EE2C5A7E8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15A74-C2B1-B745-88BF-F8EF16201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9793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4F7154-2473-39D1-F257-98C9335C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DEA013-2255-B085-EC65-AF1DEC469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29AA32-4491-1A7E-296A-5A89C39FB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8E13-2599-0048-AA9C-D29873ADD5BD}" type="datetimeFigureOut">
              <a:rPr kumimoji="1" lang="zh-CN" altLang="en-US" smtClean="0"/>
              <a:t>2026/5/2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E1FCC6-93A0-C109-9760-293EE3B05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5542C0-8BA7-1592-B774-E69FB411E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15A74-C2B1-B745-88BF-F8EF16201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19894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A78786-544C-CE74-A5A4-CF3CCC840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7B7FB6-8CFF-F0F7-8EE3-9DF9BA2957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3B0EC2B-07D3-C97A-801D-4E2F0A23AE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2F03F1-277A-EDCD-B2DE-0EDDFE50B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8E13-2599-0048-AA9C-D29873ADD5BD}" type="datetimeFigureOut">
              <a:rPr kumimoji="1" lang="zh-CN" altLang="en-US" smtClean="0"/>
              <a:t>2026/5/2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AE29C7-D686-D037-E7A8-07CAD019B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3DF488-6611-8F3C-FF26-312CB3ABF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15A74-C2B1-B745-88BF-F8EF16201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9080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0EE0FD-CEAC-AC0B-C35F-49BDB5D68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4661B6-4A42-A40A-AF7A-519ACB232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6C0C62-D417-9C01-282D-29B6DF42E0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FD783A8-5EAE-855B-3B1A-7A4EA6CE0C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AB2A2C3-B73C-BDF5-7A07-F65858D1E6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BFB34D2-71BF-8389-B0ED-158FEB6CA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8E13-2599-0048-AA9C-D29873ADD5BD}" type="datetimeFigureOut">
              <a:rPr kumimoji="1" lang="zh-CN" altLang="en-US" smtClean="0"/>
              <a:t>2026/5/2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E376023-05D8-ACE6-E166-894E6BFAE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B665CB4-3C6C-082A-0406-BC0D4F773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15A74-C2B1-B745-88BF-F8EF16201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9855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0750BB-86B6-FE0D-DCEC-C0F50670C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67AE899-DF7E-63D5-765B-C31D2020C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8E13-2599-0048-AA9C-D29873ADD5BD}" type="datetimeFigureOut">
              <a:rPr kumimoji="1" lang="zh-CN" altLang="en-US" smtClean="0"/>
              <a:t>2026/5/2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829A5F3-63A3-E484-4240-D726ACFB5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6CA09C7-CFB5-11AC-BA35-E3CFA0EE2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15A74-C2B1-B745-88BF-F8EF16201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48450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B6FEB7A-BFEA-0DF1-E17D-B39C24650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8E13-2599-0048-AA9C-D29873ADD5BD}" type="datetimeFigureOut">
              <a:rPr kumimoji="1" lang="zh-CN" altLang="en-US" smtClean="0"/>
              <a:t>2026/5/2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82DFA15-55FE-45C2-2F6F-8723A5F95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DF0A56-3EFC-D543-D51A-867AAE810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15A74-C2B1-B745-88BF-F8EF16201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39278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C02395-860C-E2AC-820C-5023462C7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63EEE3-F36C-D4EA-A807-DB208DA24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B64AB8-7A02-31AB-BAAD-CC9F3D43B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B9B1C0-84ED-0879-C526-537B3FEB3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8E13-2599-0048-AA9C-D29873ADD5BD}" type="datetimeFigureOut">
              <a:rPr kumimoji="1" lang="zh-CN" altLang="en-US" smtClean="0"/>
              <a:t>2026/5/2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BC3E5E-C33F-31FC-653C-AA56E5846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3072DC-557F-DD4F-C060-A401A06F2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15A74-C2B1-B745-88BF-F8EF16201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530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16C5AD-397F-29FE-5CD0-1195219E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2A88ECE-8695-E164-B674-B3BE0C2ACB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638DAD4-5612-E8A4-F876-1FED2CC82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EBF622-6046-773D-C684-D27BC1FD5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8E13-2599-0048-AA9C-D29873ADD5BD}" type="datetimeFigureOut">
              <a:rPr kumimoji="1" lang="zh-CN" altLang="en-US" smtClean="0"/>
              <a:t>2026/5/2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19427A-F2E3-1E73-9F22-BCC09EC80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5832BA-A0C9-CFEF-7B3E-8EF8FCB1C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15A74-C2B1-B745-88BF-F8EF16201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928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DAF1E8-30EC-3634-B0B0-1CAD08198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C434245-F56E-3A8E-8FF7-86B29AEEB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FC4EB7-A58B-4E51-1DC5-4D1D53B6A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8E13-2599-0048-AA9C-D29873ADD5BD}" type="datetimeFigureOut">
              <a:rPr kumimoji="1" lang="zh-CN" altLang="en-US" smtClean="0"/>
              <a:t>2026/5/2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8FE763-744D-B5C1-24A9-58998836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FCA534-14AC-63CE-CD0A-89AC09EB4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15A74-C2B1-B745-88BF-F8EF16201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0505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4AA204C-3B47-968C-2DDB-B47B830F59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E03F5DC-8FAF-1E3A-0E4C-5C4E71011B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E98E66-F15F-390D-AC7C-97E537CFA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8E13-2599-0048-AA9C-D29873ADD5BD}" type="datetimeFigureOut">
              <a:rPr kumimoji="1" lang="zh-CN" altLang="en-US" smtClean="0"/>
              <a:t>2026/5/2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680607-B4E4-A3CA-90B5-E1266942D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F4E88C-91BD-A60B-931D-3A9001C1F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15A74-C2B1-B745-88BF-F8EF16201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25430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445954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445954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>
          <a:xfrm>
            <a:off x="538480" y="222453"/>
            <a:ext cx="6464300" cy="511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839200" y="6445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/>
              <a:t>第 </a:t>
            </a:r>
            <a:fld id="{84377AA6-5F82-4755-B29C-FAB6A572A0B7}" type="slidenum">
              <a:rPr lang="zh-CN" altLang="en-US" smtClean="0"/>
              <a:t>‹#›</a:t>
            </a:fld>
            <a:r>
              <a:rPr lang="zh-CN" altLang="en-US" dirty="0"/>
              <a:t> 页</a:t>
            </a:r>
          </a:p>
        </p:txBody>
      </p:sp>
    </p:spTree>
    <p:extLst>
      <p:ext uri="{BB962C8B-B14F-4D97-AF65-F5344CB8AC3E}">
        <p14:creationId xmlns:p14="http://schemas.microsoft.com/office/powerpoint/2010/main" val="2671427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4976B8-E344-E983-6E12-275F3307D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C16125-D78D-B9B6-E9EB-317D55141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0AC3E7-21F1-1FAC-DFDC-CD613871B2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A18E13-2599-0048-AA9C-D29873ADD5BD}" type="datetimeFigureOut">
              <a:rPr kumimoji="1" lang="zh-CN" altLang="en-US" smtClean="0"/>
              <a:pPr/>
              <a:t>2026/5/2</a:t>
            </a:fld>
            <a:endParaRPr kumimoji="1"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7479BF-0E43-E396-23C6-6850CAB88A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C051A3-7A84-2CE8-24EF-683614BF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E415A74-C2B1-B745-88BF-F8EF16201AA5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2808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H_Other_8"/>
          <p:cNvPicPr/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7"/>
          <a:stretch>
            <a:fillRect/>
          </a:stretch>
        </p:blipFill>
        <p:spPr bwMode="auto">
          <a:xfrm rot="5400000" flipH="1">
            <a:off x="6024000" y="-3425894"/>
            <a:ext cx="144000" cy="1045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MH_Other_8"/>
          <p:cNvPicPr/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7"/>
          <a:stretch>
            <a:fillRect/>
          </a:stretch>
        </p:blipFill>
        <p:spPr bwMode="auto">
          <a:xfrm rot="16200000" flipH="1" flipV="1">
            <a:off x="6024001" y="-520932"/>
            <a:ext cx="144000" cy="1045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0" y="1811267"/>
            <a:ext cx="12192000" cy="2861362"/>
          </a:xfrm>
          <a:prstGeom prst="rect">
            <a:avLst/>
          </a:prstGeom>
          <a:solidFill>
            <a:srgbClr val="194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2702" y="2032445"/>
            <a:ext cx="12126595" cy="2466975"/>
          </a:xfrm>
          <a:prstGeom prst="rect">
            <a:avLst/>
          </a:prstGeom>
          <a:solidFill>
            <a:srgbClr val="194A96"/>
          </a:solidFill>
        </p:spPr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4800" b="1">
                <a:solidFill>
                  <a:schemeClr val="bg1">
                    <a:lumMod val="95000"/>
                  </a:schemeClr>
                </a:solidFill>
                <a:latin typeface="微软雅黑" charset="-122"/>
                <a:ea typeface="微软雅黑" charset="-122"/>
              </a:rPr>
              <a:t>基于 </a:t>
            </a:r>
            <a:r>
              <a:rPr lang="en-US" altLang="zh-CN" sz="4800" b="1">
                <a:solidFill>
                  <a:schemeClr val="bg1">
                    <a:lumMod val="95000"/>
                  </a:schemeClr>
                </a:solidFill>
                <a:latin typeface="微软雅黑" charset="-122"/>
                <a:ea typeface="微软雅黑" charset="-122"/>
              </a:rPr>
              <a:t>sentence_transformers + faiss + rerankers </a:t>
            </a:r>
            <a:r>
              <a:rPr lang="zh-CN" altLang="en-US" sz="4800" b="1">
                <a:solidFill>
                  <a:schemeClr val="bg1">
                    <a:lumMod val="95000"/>
                  </a:schemeClr>
                </a:solidFill>
                <a:latin typeface="微软雅黑" charset="-122"/>
                <a:ea typeface="微软雅黑" charset="-122"/>
              </a:rPr>
              <a:t>的中文医疗检索系统</a:t>
            </a:r>
            <a:endParaRPr lang="en-US" altLang="zh-CN" sz="4800" b="1">
              <a:solidFill>
                <a:schemeClr val="bg1">
                  <a:lumMod val="95000"/>
                </a:schemeClr>
              </a:solidFill>
              <a:latin typeface="微软雅黑" charset="-122"/>
              <a:ea typeface="微软雅黑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000" b="1">
                <a:solidFill>
                  <a:schemeClr val="accent4">
                    <a:lumMod val="20000"/>
                    <a:lumOff val="80000"/>
                  </a:schemeClr>
                </a:solidFill>
                <a:latin typeface="微软雅黑" charset="-122"/>
                <a:ea typeface="微软雅黑" charset="-122"/>
              </a:rPr>
              <a:t>智能信息处理 </a:t>
            </a:r>
            <a:r>
              <a:rPr lang="en-US" altLang="zh-CN" sz="2000" b="1">
                <a:solidFill>
                  <a:schemeClr val="accent4">
                    <a:lumMod val="20000"/>
                    <a:lumOff val="80000"/>
                  </a:schemeClr>
                </a:solidFill>
                <a:latin typeface="微软雅黑" charset="-122"/>
                <a:ea typeface="微软雅黑" charset="-122"/>
              </a:rPr>
              <a:t>- </a:t>
            </a:r>
            <a:r>
              <a:rPr lang="zh-CN" altLang="en-US" sz="2000" b="1">
                <a:solidFill>
                  <a:schemeClr val="accent4">
                    <a:lumMod val="20000"/>
                    <a:lumOff val="80000"/>
                  </a:schemeClr>
                </a:solidFill>
                <a:latin typeface="微软雅黑" charset="-122"/>
                <a:ea typeface="微软雅黑" charset="-122"/>
              </a:rPr>
              <a:t>相关信息检索作业</a:t>
            </a:r>
            <a:endParaRPr lang="zh-CN" altLang="en-US" sz="2000" b="1" dirty="0">
              <a:solidFill>
                <a:schemeClr val="accent4">
                  <a:lumMod val="20000"/>
                  <a:lumOff val="80000"/>
                </a:schemeClr>
              </a:solidFill>
              <a:latin typeface="微软雅黑" charset="-122"/>
              <a:ea typeface="微软雅黑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B37A1CD-7489-53F2-2635-DD348B32F9DF}"/>
              </a:ext>
            </a:extLst>
          </p:cNvPr>
          <p:cNvGrpSpPr/>
          <p:nvPr/>
        </p:nvGrpSpPr>
        <p:grpSpPr>
          <a:xfrm>
            <a:off x="2058655" y="5738566"/>
            <a:ext cx="8074691" cy="466246"/>
            <a:chOff x="3492836" y="5306176"/>
            <a:chExt cx="8074691" cy="466246"/>
          </a:xfrm>
        </p:grpSpPr>
        <p:sp>
          <p:nvSpPr>
            <p:cNvPr id="13" name="TextBox 6"/>
            <p:cNvSpPr txBox="1"/>
            <p:nvPr/>
          </p:nvSpPr>
          <p:spPr>
            <a:xfrm>
              <a:off x="4148652" y="5340544"/>
              <a:ext cx="2361495" cy="400085"/>
            </a:xfrm>
            <a:prstGeom prst="rect">
              <a:avLst/>
            </a:prstGeom>
            <a:noFill/>
          </p:spPr>
          <p:txBody>
            <a:bodyPr wrap="none" lIns="91416" tIns="45708" rIns="91416" bIns="45708" rtlCol="0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chemeClr val="accent2"/>
                  </a:solidFill>
                  <a:latin typeface="+mn-ea"/>
                  <a:ea typeface="+mn-ea"/>
                </a:defRPr>
              </a:lvl1pPr>
            </a:lstStyle>
            <a:p>
              <a:pPr algn="l"/>
              <a:r>
                <a:rPr lang="zh-CN" altLang="en-US" b="1">
                  <a:solidFill>
                    <a:srgbClr val="194A96"/>
                  </a:solidFill>
                  <a:latin typeface="微软雅黑" charset="-122"/>
                  <a:ea typeface="微软雅黑" charset="-122"/>
                </a:rPr>
                <a:t>梁骁 </a:t>
              </a:r>
              <a:r>
                <a:rPr lang="en-US" altLang="zh-CN" b="1">
                  <a:solidFill>
                    <a:srgbClr val="194A96"/>
                  </a:solidFill>
                  <a:latin typeface="微软雅黑" charset="-122"/>
                  <a:ea typeface="微软雅黑" charset="-122"/>
                </a:rPr>
                <a:t>2025140751</a:t>
              </a:r>
              <a:endParaRPr lang="en-US" altLang="zh-CN" dirty="0">
                <a:solidFill>
                  <a:srgbClr val="194A96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4" name="TextBox 7"/>
            <p:cNvSpPr txBox="1"/>
            <p:nvPr/>
          </p:nvSpPr>
          <p:spPr>
            <a:xfrm>
              <a:off x="9357969" y="5340544"/>
              <a:ext cx="2209558" cy="400085"/>
            </a:xfrm>
            <a:prstGeom prst="rect">
              <a:avLst/>
            </a:prstGeom>
            <a:noFill/>
          </p:spPr>
          <p:txBody>
            <a:bodyPr wrap="square" lIns="91416" tIns="45708" rIns="91416" bIns="45708" rtlCol="0">
              <a:spAutoFit/>
            </a:bodyPr>
            <a:lstStyle/>
            <a:p>
              <a:pPr algn="l"/>
              <a:r>
                <a:rPr lang="en-US" altLang="zh-CN" sz="2000" b="1">
                  <a:solidFill>
                    <a:srgbClr val="194A96"/>
                  </a:solidFill>
                  <a:latin typeface="微软雅黑" charset="-122"/>
                  <a:ea typeface="微软雅黑" charset="-122"/>
                </a:rPr>
                <a:t>2026</a:t>
              </a:r>
              <a:r>
                <a:rPr lang="zh-CN" altLang="en-US" sz="2000" b="1">
                  <a:solidFill>
                    <a:srgbClr val="194A96"/>
                  </a:solidFill>
                  <a:latin typeface="微软雅黑" charset="-122"/>
                  <a:ea typeface="微软雅黑" charset="-122"/>
                </a:rPr>
                <a:t>年</a:t>
              </a:r>
              <a:r>
                <a:rPr lang="en-US" altLang="zh-CN" sz="2000" b="1">
                  <a:solidFill>
                    <a:srgbClr val="194A96"/>
                  </a:solidFill>
                  <a:latin typeface="微软雅黑" charset="-122"/>
                  <a:ea typeface="微软雅黑" charset="-122"/>
                </a:rPr>
                <a:t>05</a:t>
              </a:r>
              <a:r>
                <a:rPr lang="zh-CN" altLang="en-US" sz="2000" b="1">
                  <a:solidFill>
                    <a:srgbClr val="194A96"/>
                  </a:solidFill>
                  <a:latin typeface="微软雅黑" charset="-122"/>
                  <a:ea typeface="微软雅黑" charset="-122"/>
                </a:rPr>
                <a:t>月</a:t>
              </a:r>
              <a:r>
                <a:rPr lang="en-US" altLang="zh-CN" sz="2000" b="1">
                  <a:solidFill>
                    <a:srgbClr val="194A96"/>
                  </a:solidFill>
                  <a:latin typeface="微软雅黑" charset="-122"/>
                  <a:ea typeface="微软雅黑" charset="-122"/>
                </a:rPr>
                <a:t>01</a:t>
              </a:r>
              <a:r>
                <a:rPr lang="zh-CN" altLang="en-US" sz="2000" b="1">
                  <a:solidFill>
                    <a:srgbClr val="194A96"/>
                  </a:solidFill>
                  <a:latin typeface="微软雅黑" charset="-122"/>
                  <a:ea typeface="微软雅黑" charset="-122"/>
                </a:rPr>
                <a:t>日</a:t>
              </a:r>
              <a:endParaRPr lang="zh-CN" altLang="en-US" sz="2000" b="1" dirty="0">
                <a:solidFill>
                  <a:srgbClr val="194A96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1" name="Freeform 7"/>
            <p:cNvSpPr>
              <a:spLocks noChangeAspect="1" noEditPoints="1"/>
            </p:cNvSpPr>
            <p:nvPr/>
          </p:nvSpPr>
          <p:spPr bwMode="auto">
            <a:xfrm>
              <a:off x="3492836" y="5306177"/>
              <a:ext cx="462900" cy="466244"/>
            </a:xfrm>
            <a:custGeom>
              <a:avLst/>
              <a:gdLst>
                <a:gd name="T0" fmla="*/ 661 w 904"/>
                <a:gd name="T1" fmla="*/ 461 h 905"/>
                <a:gd name="T2" fmla="*/ 661 w 904"/>
                <a:gd name="T3" fmla="*/ 339 h 905"/>
                <a:gd name="T4" fmla="*/ 605 w 904"/>
                <a:gd name="T5" fmla="*/ 339 h 905"/>
                <a:gd name="T6" fmla="*/ 605 w 904"/>
                <a:gd name="T7" fmla="*/ 461 h 905"/>
                <a:gd name="T8" fmla="*/ 456 w 904"/>
                <a:gd name="T9" fmla="*/ 610 h 905"/>
                <a:gd name="T10" fmla="*/ 453 w 904"/>
                <a:gd name="T11" fmla="*/ 610 h 905"/>
                <a:gd name="T12" fmla="*/ 452 w 904"/>
                <a:gd name="T13" fmla="*/ 610 h 905"/>
                <a:gd name="T14" fmla="*/ 451 w 904"/>
                <a:gd name="T15" fmla="*/ 610 h 905"/>
                <a:gd name="T16" fmla="*/ 448 w 904"/>
                <a:gd name="T17" fmla="*/ 610 h 905"/>
                <a:gd name="T18" fmla="*/ 299 w 904"/>
                <a:gd name="T19" fmla="*/ 461 h 905"/>
                <a:gd name="T20" fmla="*/ 299 w 904"/>
                <a:gd name="T21" fmla="*/ 339 h 905"/>
                <a:gd name="T22" fmla="*/ 244 w 904"/>
                <a:gd name="T23" fmla="*/ 339 h 905"/>
                <a:gd name="T24" fmla="*/ 244 w 904"/>
                <a:gd name="T25" fmla="*/ 461 h 905"/>
                <a:gd name="T26" fmla="*/ 419 w 904"/>
                <a:gd name="T27" fmla="*/ 664 h 905"/>
                <a:gd name="T28" fmla="*/ 419 w 904"/>
                <a:gd name="T29" fmla="*/ 752 h 905"/>
                <a:gd name="T30" fmla="*/ 295 w 904"/>
                <a:gd name="T31" fmla="*/ 787 h 905"/>
                <a:gd name="T32" fmla="*/ 610 w 904"/>
                <a:gd name="T33" fmla="*/ 787 h 905"/>
                <a:gd name="T34" fmla="*/ 484 w 904"/>
                <a:gd name="T35" fmla="*/ 751 h 905"/>
                <a:gd name="T36" fmla="*/ 484 w 904"/>
                <a:gd name="T37" fmla="*/ 664 h 905"/>
                <a:gd name="T38" fmla="*/ 661 w 904"/>
                <a:gd name="T39" fmla="*/ 461 h 905"/>
                <a:gd name="T40" fmla="*/ 450 w 904"/>
                <a:gd name="T41" fmla="*/ 558 h 905"/>
                <a:gd name="T42" fmla="*/ 452 w 904"/>
                <a:gd name="T43" fmla="*/ 558 h 905"/>
                <a:gd name="T44" fmla="*/ 454 w 904"/>
                <a:gd name="T45" fmla="*/ 558 h 905"/>
                <a:gd name="T46" fmla="*/ 554 w 904"/>
                <a:gd name="T47" fmla="*/ 459 h 905"/>
                <a:gd name="T48" fmla="*/ 554 w 904"/>
                <a:gd name="T49" fmla="*/ 218 h 905"/>
                <a:gd name="T50" fmla="*/ 454 w 904"/>
                <a:gd name="T51" fmla="*/ 118 h 905"/>
                <a:gd name="T52" fmla="*/ 452 w 904"/>
                <a:gd name="T53" fmla="*/ 118 h 905"/>
                <a:gd name="T54" fmla="*/ 450 w 904"/>
                <a:gd name="T55" fmla="*/ 118 h 905"/>
                <a:gd name="T56" fmla="*/ 351 w 904"/>
                <a:gd name="T57" fmla="*/ 218 h 905"/>
                <a:gd name="T58" fmla="*/ 351 w 904"/>
                <a:gd name="T59" fmla="*/ 459 h 905"/>
                <a:gd name="T60" fmla="*/ 450 w 904"/>
                <a:gd name="T61" fmla="*/ 558 h 905"/>
                <a:gd name="T62" fmla="*/ 452 w 904"/>
                <a:gd name="T63" fmla="*/ 0 h 905"/>
                <a:gd name="T64" fmla="*/ 904 w 904"/>
                <a:gd name="T65" fmla="*/ 453 h 905"/>
                <a:gd name="T66" fmla="*/ 452 w 904"/>
                <a:gd name="T67" fmla="*/ 905 h 905"/>
                <a:gd name="T68" fmla="*/ 0 w 904"/>
                <a:gd name="T69" fmla="*/ 453 h 905"/>
                <a:gd name="T70" fmla="*/ 452 w 904"/>
                <a:gd name="T71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04" h="905">
                  <a:moveTo>
                    <a:pt x="661" y="461"/>
                  </a:moveTo>
                  <a:lnTo>
                    <a:pt x="661" y="339"/>
                  </a:lnTo>
                  <a:cubicBezTo>
                    <a:pt x="661" y="304"/>
                    <a:pt x="605" y="304"/>
                    <a:pt x="605" y="339"/>
                  </a:cubicBezTo>
                  <a:lnTo>
                    <a:pt x="605" y="461"/>
                  </a:lnTo>
                  <a:cubicBezTo>
                    <a:pt x="605" y="543"/>
                    <a:pt x="538" y="610"/>
                    <a:pt x="456" y="610"/>
                  </a:cubicBezTo>
                  <a:cubicBezTo>
                    <a:pt x="455" y="610"/>
                    <a:pt x="454" y="610"/>
                    <a:pt x="453" y="610"/>
                  </a:cubicBezTo>
                  <a:lnTo>
                    <a:pt x="452" y="610"/>
                  </a:lnTo>
                  <a:lnTo>
                    <a:pt x="451" y="610"/>
                  </a:lnTo>
                  <a:cubicBezTo>
                    <a:pt x="450" y="610"/>
                    <a:pt x="449" y="610"/>
                    <a:pt x="448" y="610"/>
                  </a:cubicBezTo>
                  <a:cubicBezTo>
                    <a:pt x="366" y="610"/>
                    <a:pt x="299" y="543"/>
                    <a:pt x="299" y="461"/>
                  </a:cubicBezTo>
                  <a:lnTo>
                    <a:pt x="299" y="339"/>
                  </a:lnTo>
                  <a:cubicBezTo>
                    <a:pt x="299" y="304"/>
                    <a:pt x="244" y="304"/>
                    <a:pt x="244" y="339"/>
                  </a:cubicBezTo>
                  <a:cubicBezTo>
                    <a:pt x="244" y="355"/>
                    <a:pt x="244" y="461"/>
                    <a:pt x="244" y="461"/>
                  </a:cubicBezTo>
                  <a:cubicBezTo>
                    <a:pt x="244" y="564"/>
                    <a:pt x="320" y="650"/>
                    <a:pt x="419" y="664"/>
                  </a:cubicBezTo>
                  <a:lnTo>
                    <a:pt x="419" y="752"/>
                  </a:lnTo>
                  <a:lnTo>
                    <a:pt x="295" y="787"/>
                  </a:lnTo>
                  <a:lnTo>
                    <a:pt x="610" y="787"/>
                  </a:lnTo>
                  <a:lnTo>
                    <a:pt x="484" y="751"/>
                  </a:lnTo>
                  <a:lnTo>
                    <a:pt x="484" y="664"/>
                  </a:lnTo>
                  <a:cubicBezTo>
                    <a:pt x="584" y="650"/>
                    <a:pt x="661" y="564"/>
                    <a:pt x="661" y="461"/>
                  </a:cubicBezTo>
                  <a:close/>
                  <a:moveTo>
                    <a:pt x="450" y="558"/>
                  </a:moveTo>
                  <a:cubicBezTo>
                    <a:pt x="451" y="558"/>
                    <a:pt x="451" y="558"/>
                    <a:pt x="452" y="558"/>
                  </a:cubicBezTo>
                  <a:cubicBezTo>
                    <a:pt x="453" y="558"/>
                    <a:pt x="453" y="558"/>
                    <a:pt x="454" y="558"/>
                  </a:cubicBezTo>
                  <a:cubicBezTo>
                    <a:pt x="509" y="558"/>
                    <a:pt x="554" y="514"/>
                    <a:pt x="554" y="459"/>
                  </a:cubicBezTo>
                  <a:lnTo>
                    <a:pt x="554" y="218"/>
                  </a:lnTo>
                  <a:cubicBezTo>
                    <a:pt x="554" y="163"/>
                    <a:pt x="509" y="118"/>
                    <a:pt x="454" y="118"/>
                  </a:cubicBezTo>
                  <a:cubicBezTo>
                    <a:pt x="453" y="118"/>
                    <a:pt x="453" y="118"/>
                    <a:pt x="452" y="118"/>
                  </a:cubicBezTo>
                  <a:cubicBezTo>
                    <a:pt x="452" y="118"/>
                    <a:pt x="451" y="118"/>
                    <a:pt x="450" y="118"/>
                  </a:cubicBezTo>
                  <a:cubicBezTo>
                    <a:pt x="395" y="118"/>
                    <a:pt x="351" y="163"/>
                    <a:pt x="351" y="218"/>
                  </a:cubicBezTo>
                  <a:lnTo>
                    <a:pt x="351" y="459"/>
                  </a:lnTo>
                  <a:cubicBezTo>
                    <a:pt x="351" y="514"/>
                    <a:pt x="395" y="558"/>
                    <a:pt x="450" y="558"/>
                  </a:cubicBezTo>
                  <a:close/>
                  <a:moveTo>
                    <a:pt x="452" y="0"/>
                  </a:moveTo>
                  <a:cubicBezTo>
                    <a:pt x="702" y="0"/>
                    <a:pt x="904" y="203"/>
                    <a:pt x="904" y="453"/>
                  </a:cubicBezTo>
                  <a:cubicBezTo>
                    <a:pt x="904" y="702"/>
                    <a:pt x="702" y="905"/>
                    <a:pt x="452" y="905"/>
                  </a:cubicBezTo>
                  <a:cubicBezTo>
                    <a:pt x="202" y="905"/>
                    <a:pt x="0" y="702"/>
                    <a:pt x="0" y="453"/>
                  </a:cubicBezTo>
                  <a:cubicBezTo>
                    <a:pt x="0" y="203"/>
                    <a:pt x="202" y="0"/>
                    <a:pt x="452" y="0"/>
                  </a:cubicBezTo>
                  <a:close/>
                </a:path>
              </a:pathLst>
            </a:custGeom>
            <a:solidFill>
              <a:srgbClr val="194A96"/>
            </a:solidFill>
            <a:ln>
              <a:noFill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zh-CN" altLang="en-US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2" name="Freeform 8"/>
            <p:cNvSpPr>
              <a:spLocks noChangeAspect="1" noEditPoints="1"/>
            </p:cNvSpPr>
            <p:nvPr/>
          </p:nvSpPr>
          <p:spPr bwMode="auto">
            <a:xfrm>
              <a:off x="8573893" y="5306176"/>
              <a:ext cx="464288" cy="466246"/>
            </a:xfrm>
            <a:custGeom>
              <a:avLst/>
              <a:gdLst>
                <a:gd name="T0" fmla="*/ 422 w 422"/>
                <a:gd name="T1" fmla="*/ 211 h 422"/>
                <a:gd name="T2" fmla="*/ 0 w 422"/>
                <a:gd name="T3" fmla="*/ 211 h 422"/>
                <a:gd name="T4" fmla="*/ 340 w 422"/>
                <a:gd name="T5" fmla="*/ 117 h 422"/>
                <a:gd name="T6" fmla="*/ 345 w 422"/>
                <a:gd name="T7" fmla="*/ 123 h 422"/>
                <a:gd name="T8" fmla="*/ 344 w 422"/>
                <a:gd name="T9" fmla="*/ 226 h 422"/>
                <a:gd name="T10" fmla="*/ 340 w 422"/>
                <a:gd name="T11" fmla="*/ 227 h 422"/>
                <a:gd name="T12" fmla="*/ 217 w 422"/>
                <a:gd name="T13" fmla="*/ 226 h 422"/>
                <a:gd name="T14" fmla="*/ 215 w 422"/>
                <a:gd name="T15" fmla="*/ 222 h 422"/>
                <a:gd name="T16" fmla="*/ 286 w 422"/>
                <a:gd name="T17" fmla="*/ 164 h 422"/>
                <a:gd name="T18" fmla="*/ 215 w 422"/>
                <a:gd name="T19" fmla="*/ 171 h 422"/>
                <a:gd name="T20" fmla="*/ 217 w 422"/>
                <a:gd name="T21" fmla="*/ 119 h 422"/>
                <a:gd name="T22" fmla="*/ 220 w 422"/>
                <a:gd name="T23" fmla="*/ 117 h 422"/>
                <a:gd name="T24" fmla="*/ 220 w 422"/>
                <a:gd name="T25" fmla="*/ 96 h 422"/>
                <a:gd name="T26" fmla="*/ 202 w 422"/>
                <a:gd name="T27" fmla="*/ 104 h 422"/>
                <a:gd name="T28" fmla="*/ 194 w 422"/>
                <a:gd name="T29" fmla="*/ 174 h 422"/>
                <a:gd name="T30" fmla="*/ 186 w 422"/>
                <a:gd name="T31" fmla="*/ 166 h 422"/>
                <a:gd name="T32" fmla="*/ 137 w 422"/>
                <a:gd name="T33" fmla="*/ 151 h 422"/>
                <a:gd name="T34" fmla="*/ 54 w 422"/>
                <a:gd name="T35" fmla="*/ 173 h 422"/>
                <a:gd name="T36" fmla="*/ 77 w 422"/>
                <a:gd name="T37" fmla="*/ 243 h 422"/>
                <a:gd name="T38" fmla="*/ 81 w 422"/>
                <a:gd name="T39" fmla="*/ 192 h 422"/>
                <a:gd name="T40" fmla="*/ 81 w 422"/>
                <a:gd name="T41" fmla="*/ 256 h 422"/>
                <a:gd name="T42" fmla="*/ 106 w 422"/>
                <a:gd name="T43" fmla="*/ 350 h 422"/>
                <a:gd name="T44" fmla="*/ 112 w 422"/>
                <a:gd name="T45" fmla="*/ 272 h 422"/>
                <a:gd name="T46" fmla="*/ 137 w 422"/>
                <a:gd name="T47" fmla="*/ 350 h 422"/>
                <a:gd name="T48" fmla="*/ 137 w 422"/>
                <a:gd name="T49" fmla="*/ 256 h 422"/>
                <a:gd name="T50" fmla="*/ 137 w 422"/>
                <a:gd name="T51" fmla="*/ 192 h 422"/>
                <a:gd name="T52" fmla="*/ 162 w 422"/>
                <a:gd name="T53" fmla="*/ 192 h 422"/>
                <a:gd name="T54" fmla="*/ 186 w 422"/>
                <a:gd name="T55" fmla="*/ 185 h 422"/>
                <a:gd name="T56" fmla="*/ 194 w 422"/>
                <a:gd name="T57" fmla="*/ 222 h 422"/>
                <a:gd name="T58" fmla="*/ 202 w 422"/>
                <a:gd name="T59" fmla="*/ 240 h 422"/>
                <a:gd name="T60" fmla="*/ 220 w 422"/>
                <a:gd name="T61" fmla="*/ 248 h 422"/>
                <a:gd name="T62" fmla="*/ 359 w 422"/>
                <a:gd name="T63" fmla="*/ 240 h 422"/>
                <a:gd name="T64" fmla="*/ 366 w 422"/>
                <a:gd name="T65" fmla="*/ 222 h 422"/>
                <a:gd name="T66" fmla="*/ 359 w 422"/>
                <a:gd name="T67" fmla="*/ 104 h 422"/>
                <a:gd name="T68" fmla="*/ 220 w 422"/>
                <a:gd name="T69" fmla="*/ 96 h 422"/>
                <a:gd name="T70" fmla="*/ 344 w 422"/>
                <a:gd name="T71" fmla="*/ 277 h 422"/>
                <a:gd name="T72" fmla="*/ 346 w 422"/>
                <a:gd name="T73" fmla="*/ 351 h 422"/>
                <a:gd name="T74" fmla="*/ 298 w 422"/>
                <a:gd name="T75" fmla="*/ 277 h 422"/>
                <a:gd name="T76" fmla="*/ 250 w 422"/>
                <a:gd name="T77" fmla="*/ 351 h 422"/>
                <a:gd name="T78" fmla="*/ 244 w 422"/>
                <a:gd name="T79" fmla="*/ 277 h 422"/>
                <a:gd name="T80" fmla="*/ 221 w 422"/>
                <a:gd name="T81" fmla="*/ 254 h 422"/>
                <a:gd name="T82" fmla="*/ 109 w 422"/>
                <a:gd name="T83" fmla="*/ 75 h 422"/>
                <a:gd name="T84" fmla="*/ 109 w 422"/>
                <a:gd name="T85" fmla="*/ 146 h 422"/>
                <a:gd name="T86" fmla="*/ 109 w 422"/>
                <a:gd name="T87" fmla="*/ 75 h 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22" h="422">
                  <a:moveTo>
                    <a:pt x="211" y="0"/>
                  </a:moveTo>
                  <a:cubicBezTo>
                    <a:pt x="327" y="0"/>
                    <a:pt x="422" y="94"/>
                    <a:pt x="422" y="211"/>
                  </a:cubicBezTo>
                  <a:cubicBezTo>
                    <a:pt x="422" y="327"/>
                    <a:pt x="327" y="422"/>
                    <a:pt x="211" y="422"/>
                  </a:cubicBezTo>
                  <a:cubicBezTo>
                    <a:pt x="94" y="422"/>
                    <a:pt x="0" y="327"/>
                    <a:pt x="0" y="211"/>
                  </a:cubicBezTo>
                  <a:cubicBezTo>
                    <a:pt x="0" y="94"/>
                    <a:pt x="94" y="0"/>
                    <a:pt x="211" y="0"/>
                  </a:cubicBezTo>
                  <a:close/>
                  <a:moveTo>
                    <a:pt x="340" y="117"/>
                  </a:moveTo>
                  <a:cubicBezTo>
                    <a:pt x="341" y="117"/>
                    <a:pt x="343" y="118"/>
                    <a:pt x="344" y="119"/>
                  </a:cubicBezTo>
                  <a:cubicBezTo>
                    <a:pt x="345" y="120"/>
                    <a:pt x="345" y="121"/>
                    <a:pt x="345" y="123"/>
                  </a:cubicBezTo>
                  <a:lnTo>
                    <a:pt x="345" y="222"/>
                  </a:lnTo>
                  <a:cubicBezTo>
                    <a:pt x="345" y="223"/>
                    <a:pt x="345" y="225"/>
                    <a:pt x="344" y="226"/>
                  </a:cubicBezTo>
                  <a:lnTo>
                    <a:pt x="344" y="226"/>
                  </a:lnTo>
                  <a:cubicBezTo>
                    <a:pt x="343" y="227"/>
                    <a:pt x="341" y="227"/>
                    <a:pt x="340" y="227"/>
                  </a:cubicBezTo>
                  <a:lnTo>
                    <a:pt x="220" y="227"/>
                  </a:lnTo>
                  <a:cubicBezTo>
                    <a:pt x="219" y="227"/>
                    <a:pt x="218" y="227"/>
                    <a:pt x="217" y="226"/>
                  </a:cubicBezTo>
                  <a:lnTo>
                    <a:pt x="217" y="226"/>
                  </a:lnTo>
                  <a:cubicBezTo>
                    <a:pt x="216" y="225"/>
                    <a:pt x="215" y="223"/>
                    <a:pt x="215" y="222"/>
                  </a:cubicBezTo>
                  <a:lnTo>
                    <a:pt x="215" y="179"/>
                  </a:lnTo>
                  <a:lnTo>
                    <a:pt x="286" y="164"/>
                  </a:lnTo>
                  <a:lnTo>
                    <a:pt x="286" y="162"/>
                  </a:lnTo>
                  <a:lnTo>
                    <a:pt x="215" y="171"/>
                  </a:lnTo>
                  <a:lnTo>
                    <a:pt x="215" y="123"/>
                  </a:lnTo>
                  <a:cubicBezTo>
                    <a:pt x="215" y="121"/>
                    <a:pt x="216" y="120"/>
                    <a:pt x="217" y="119"/>
                  </a:cubicBezTo>
                  <a:lnTo>
                    <a:pt x="217" y="119"/>
                  </a:lnTo>
                  <a:cubicBezTo>
                    <a:pt x="218" y="118"/>
                    <a:pt x="219" y="117"/>
                    <a:pt x="220" y="117"/>
                  </a:cubicBezTo>
                  <a:lnTo>
                    <a:pt x="340" y="117"/>
                  </a:lnTo>
                  <a:close/>
                  <a:moveTo>
                    <a:pt x="220" y="96"/>
                  </a:moveTo>
                  <a:cubicBezTo>
                    <a:pt x="213" y="96"/>
                    <a:pt x="206" y="99"/>
                    <a:pt x="202" y="104"/>
                  </a:cubicBezTo>
                  <a:lnTo>
                    <a:pt x="202" y="104"/>
                  </a:lnTo>
                  <a:cubicBezTo>
                    <a:pt x="197" y="109"/>
                    <a:pt x="194" y="115"/>
                    <a:pt x="194" y="123"/>
                  </a:cubicBezTo>
                  <a:lnTo>
                    <a:pt x="194" y="174"/>
                  </a:lnTo>
                  <a:lnTo>
                    <a:pt x="186" y="175"/>
                  </a:lnTo>
                  <a:lnTo>
                    <a:pt x="186" y="166"/>
                  </a:lnTo>
                  <a:lnTo>
                    <a:pt x="162" y="166"/>
                  </a:lnTo>
                  <a:lnTo>
                    <a:pt x="137" y="151"/>
                  </a:lnTo>
                  <a:lnTo>
                    <a:pt x="77" y="151"/>
                  </a:lnTo>
                  <a:cubicBezTo>
                    <a:pt x="64" y="151"/>
                    <a:pt x="54" y="161"/>
                    <a:pt x="54" y="173"/>
                  </a:cubicBezTo>
                  <a:lnTo>
                    <a:pt x="54" y="243"/>
                  </a:lnTo>
                  <a:lnTo>
                    <a:pt x="77" y="243"/>
                  </a:lnTo>
                  <a:lnTo>
                    <a:pt x="77" y="192"/>
                  </a:lnTo>
                  <a:lnTo>
                    <a:pt x="81" y="192"/>
                  </a:lnTo>
                  <a:lnTo>
                    <a:pt x="81" y="243"/>
                  </a:lnTo>
                  <a:lnTo>
                    <a:pt x="81" y="256"/>
                  </a:lnTo>
                  <a:lnTo>
                    <a:pt x="81" y="350"/>
                  </a:lnTo>
                  <a:lnTo>
                    <a:pt x="106" y="350"/>
                  </a:lnTo>
                  <a:lnTo>
                    <a:pt x="106" y="272"/>
                  </a:lnTo>
                  <a:lnTo>
                    <a:pt x="112" y="272"/>
                  </a:lnTo>
                  <a:lnTo>
                    <a:pt x="112" y="350"/>
                  </a:lnTo>
                  <a:lnTo>
                    <a:pt x="137" y="350"/>
                  </a:lnTo>
                  <a:lnTo>
                    <a:pt x="137" y="336"/>
                  </a:lnTo>
                  <a:lnTo>
                    <a:pt x="137" y="256"/>
                  </a:lnTo>
                  <a:lnTo>
                    <a:pt x="137" y="243"/>
                  </a:lnTo>
                  <a:lnTo>
                    <a:pt x="137" y="192"/>
                  </a:lnTo>
                  <a:lnTo>
                    <a:pt x="137" y="177"/>
                  </a:lnTo>
                  <a:lnTo>
                    <a:pt x="162" y="192"/>
                  </a:lnTo>
                  <a:lnTo>
                    <a:pt x="186" y="192"/>
                  </a:lnTo>
                  <a:lnTo>
                    <a:pt x="186" y="185"/>
                  </a:lnTo>
                  <a:lnTo>
                    <a:pt x="194" y="184"/>
                  </a:lnTo>
                  <a:lnTo>
                    <a:pt x="194" y="222"/>
                  </a:lnTo>
                  <a:cubicBezTo>
                    <a:pt x="194" y="229"/>
                    <a:pt x="197" y="236"/>
                    <a:pt x="202" y="240"/>
                  </a:cubicBezTo>
                  <a:lnTo>
                    <a:pt x="202" y="240"/>
                  </a:lnTo>
                  <a:lnTo>
                    <a:pt x="202" y="241"/>
                  </a:lnTo>
                  <a:cubicBezTo>
                    <a:pt x="207" y="245"/>
                    <a:pt x="213" y="248"/>
                    <a:pt x="220" y="248"/>
                  </a:cubicBezTo>
                  <a:lnTo>
                    <a:pt x="340" y="248"/>
                  </a:lnTo>
                  <a:cubicBezTo>
                    <a:pt x="347" y="248"/>
                    <a:pt x="354" y="245"/>
                    <a:pt x="359" y="240"/>
                  </a:cubicBezTo>
                  <a:lnTo>
                    <a:pt x="359" y="241"/>
                  </a:lnTo>
                  <a:cubicBezTo>
                    <a:pt x="363" y="236"/>
                    <a:pt x="366" y="229"/>
                    <a:pt x="366" y="222"/>
                  </a:cubicBezTo>
                  <a:lnTo>
                    <a:pt x="366" y="123"/>
                  </a:lnTo>
                  <a:cubicBezTo>
                    <a:pt x="366" y="115"/>
                    <a:pt x="363" y="109"/>
                    <a:pt x="359" y="104"/>
                  </a:cubicBezTo>
                  <a:cubicBezTo>
                    <a:pt x="354" y="99"/>
                    <a:pt x="347" y="96"/>
                    <a:pt x="340" y="96"/>
                  </a:cubicBezTo>
                  <a:lnTo>
                    <a:pt x="220" y="96"/>
                  </a:lnTo>
                  <a:close/>
                  <a:moveTo>
                    <a:pt x="344" y="254"/>
                  </a:moveTo>
                  <a:lnTo>
                    <a:pt x="344" y="277"/>
                  </a:lnTo>
                  <a:lnTo>
                    <a:pt x="325" y="277"/>
                  </a:lnTo>
                  <a:lnTo>
                    <a:pt x="346" y="351"/>
                  </a:lnTo>
                  <a:lnTo>
                    <a:pt x="319" y="351"/>
                  </a:lnTo>
                  <a:lnTo>
                    <a:pt x="298" y="277"/>
                  </a:lnTo>
                  <a:lnTo>
                    <a:pt x="271" y="277"/>
                  </a:lnTo>
                  <a:lnTo>
                    <a:pt x="250" y="351"/>
                  </a:lnTo>
                  <a:lnTo>
                    <a:pt x="223" y="351"/>
                  </a:lnTo>
                  <a:lnTo>
                    <a:pt x="244" y="277"/>
                  </a:lnTo>
                  <a:lnTo>
                    <a:pt x="221" y="277"/>
                  </a:lnTo>
                  <a:lnTo>
                    <a:pt x="221" y="254"/>
                  </a:lnTo>
                  <a:lnTo>
                    <a:pt x="344" y="254"/>
                  </a:lnTo>
                  <a:close/>
                  <a:moveTo>
                    <a:pt x="109" y="75"/>
                  </a:moveTo>
                  <a:cubicBezTo>
                    <a:pt x="129" y="75"/>
                    <a:pt x="145" y="91"/>
                    <a:pt x="145" y="111"/>
                  </a:cubicBezTo>
                  <a:cubicBezTo>
                    <a:pt x="145" y="130"/>
                    <a:pt x="129" y="146"/>
                    <a:pt x="109" y="146"/>
                  </a:cubicBezTo>
                  <a:cubicBezTo>
                    <a:pt x="90" y="146"/>
                    <a:pt x="74" y="130"/>
                    <a:pt x="74" y="111"/>
                  </a:cubicBezTo>
                  <a:cubicBezTo>
                    <a:pt x="74" y="91"/>
                    <a:pt x="90" y="75"/>
                    <a:pt x="109" y="75"/>
                  </a:cubicBezTo>
                  <a:close/>
                </a:path>
              </a:pathLst>
            </a:custGeom>
            <a:solidFill>
              <a:srgbClr val="194A96"/>
            </a:solidFill>
            <a:ln>
              <a:noFill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zh-CN" altLang="en-US" sz="2800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3"/>
          <a:stretch>
            <a:fillRect/>
          </a:stretch>
        </p:blipFill>
        <p:spPr>
          <a:xfrm>
            <a:off x="370621" y="268412"/>
            <a:ext cx="3007580" cy="9242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BD489-A5CA-2E3A-A0B3-5831BE468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D98F6682-B7F3-4633-41B0-4D2F268B72A9}"/>
              </a:ext>
            </a:extLst>
          </p:cNvPr>
          <p:cNvSpPr/>
          <p:nvPr/>
        </p:nvSpPr>
        <p:spPr>
          <a:xfrm>
            <a:off x="0" y="0"/>
            <a:ext cx="12192000" cy="821232"/>
          </a:xfrm>
          <a:prstGeom prst="rect">
            <a:avLst/>
          </a:prstGeom>
          <a:solidFill>
            <a:srgbClr val="194A9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9" name="Freeform 21">
            <a:extLst>
              <a:ext uri="{FF2B5EF4-FFF2-40B4-BE49-F238E27FC236}">
                <a16:creationId xmlns:a16="http://schemas.microsoft.com/office/drawing/2014/main" id="{1AE3E6F7-846B-16CA-2A02-217A58F95F8A}"/>
              </a:ext>
            </a:extLst>
          </p:cNvPr>
          <p:cNvSpPr/>
          <p:nvPr/>
        </p:nvSpPr>
        <p:spPr>
          <a:xfrm>
            <a:off x="9196624" y="0"/>
            <a:ext cx="2834731" cy="840599"/>
          </a:xfrm>
          <a:custGeom>
            <a:avLst/>
            <a:gdLst/>
            <a:ahLst/>
            <a:cxnLst/>
            <a:rect l="l" t="t" r="r" b="b"/>
            <a:pathLst>
              <a:path w="2642215" h="793112">
                <a:moveTo>
                  <a:pt x="0" y="0"/>
                </a:moveTo>
                <a:lnTo>
                  <a:pt x="2642216" y="0"/>
                </a:lnTo>
                <a:lnTo>
                  <a:pt x="2642216" y="793112"/>
                </a:lnTo>
                <a:lnTo>
                  <a:pt x="0" y="7931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19" name="请勿抄袭搬运！盗版必究！微信DAJU_PPT">
            <a:extLst>
              <a:ext uri="{FF2B5EF4-FFF2-40B4-BE49-F238E27FC236}">
                <a16:creationId xmlns:a16="http://schemas.microsoft.com/office/drawing/2014/main" id="{D2D46787-58ED-13EF-C78B-B37648701199}"/>
              </a:ext>
            </a:extLst>
          </p:cNvPr>
          <p:cNvSpPr txBox="1"/>
          <p:nvPr/>
        </p:nvSpPr>
        <p:spPr>
          <a:xfrm>
            <a:off x="370956" y="155028"/>
            <a:ext cx="6464300" cy="51117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US" altLang="zh-CN" sz="3600">
                <a:solidFill>
                  <a:srgbClr val="FFFFFF"/>
                </a:solidFill>
                <a:latin typeface="微软雅黑" charset="-122"/>
                <a:ea typeface="微软雅黑" charset="-122"/>
              </a:rPr>
              <a:t>1-</a:t>
            </a:r>
            <a:r>
              <a:rPr lang="zh-CN" altLang="en-US" sz="3600">
                <a:solidFill>
                  <a:srgbClr val="FFFFFF"/>
                </a:solidFill>
                <a:latin typeface="微软雅黑" charset="-122"/>
                <a:ea typeface="微软雅黑" charset="-122"/>
              </a:rPr>
              <a:t>任务理解与流程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0D660F94-AC6C-3435-3A39-026584A2AA1D}"/>
              </a:ext>
            </a:extLst>
          </p:cNvPr>
          <p:cNvSpPr txBox="1">
            <a:spLocks/>
          </p:cNvSpPr>
          <p:nvPr/>
        </p:nvSpPr>
        <p:spPr>
          <a:xfrm>
            <a:off x="9505122" y="6588263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A330ECBB-EFA0-4B67-A466-676224D8611D}" type="slidenum">
              <a:rPr lang="zh-CN" altLang="en-US" sz="1200" smtClean="0">
                <a:solidFill>
                  <a:prstClr val="black">
                    <a:tint val="75000"/>
                  </a:prstClr>
                </a:solidFill>
                <a:latin typeface="微软雅黑" charset="-122"/>
                <a:ea typeface="微软雅黑" charset="-122"/>
              </a:rPr>
              <a:pPr algn="r">
                <a:defRPr/>
              </a:pPr>
              <a:t>2</a:t>
            </a:fld>
            <a:endParaRPr lang="zh-CN" altLang="en-US" sz="1200" dirty="0">
              <a:solidFill>
                <a:prstClr val="black">
                  <a:tint val="75000"/>
                </a:prstClr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5B5E60A-49CC-481E-A686-FF204BA64787}"/>
              </a:ext>
            </a:extLst>
          </p:cNvPr>
          <p:cNvSpPr txBox="1"/>
          <p:nvPr/>
        </p:nvSpPr>
        <p:spPr>
          <a:xfrm>
            <a:off x="257366" y="1801201"/>
            <a:ext cx="6188870" cy="3900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数据集：</a:t>
            </a:r>
            <a:r>
              <a:rPr lang="en-US" altLang="zh-CN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CmedqaRetrieval</a:t>
            </a:r>
            <a:r>
              <a:rPr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（中文医疗问答）</a:t>
            </a:r>
            <a:endParaRPr lang="en-US" altLang="zh-CN" sz="240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CN" altLang="en-US" sz="240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任务：从 </a:t>
            </a:r>
            <a:r>
              <a:rPr lang="en-US" altLang="zh-CN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 </a:t>
            </a:r>
            <a:r>
              <a:rPr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万候选答复中找出与 </a:t>
            </a:r>
            <a:r>
              <a:rPr lang="en-US" altLang="zh-CN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query </a:t>
            </a:r>
            <a:r>
              <a:rPr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最相关的医生答案</a:t>
            </a:r>
            <a:endParaRPr lang="en-US" altLang="zh-CN" sz="240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CN" altLang="en-US" sz="240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技术路线：向量化 → 索引 → 检索 → 重排，并加 </a:t>
            </a:r>
            <a:r>
              <a:rPr lang="en-US" altLang="zh-CN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BM25 </a:t>
            </a:r>
            <a:r>
              <a:rPr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基线对比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10FAF02-43B8-4195-9C33-E7622336FC31}"/>
              </a:ext>
            </a:extLst>
          </p:cNvPr>
          <p:cNvSpPr txBox="1"/>
          <p:nvPr/>
        </p:nvSpPr>
        <p:spPr>
          <a:xfrm>
            <a:off x="2246692" y="1083284"/>
            <a:ext cx="2135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楷体" panose="02010609060101010101" pitchFamily="49" charset="-122"/>
                <a:ea typeface="楷体" panose="02010609060101010101" pitchFamily="49" charset="-122"/>
              </a:rPr>
              <a:t>任务简介</a:t>
            </a:r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8994A912-B7DE-4E16-9164-B15BC5CC18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2365" y="1698171"/>
            <a:ext cx="5483719" cy="4354718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E0072D7-1E1C-48B6-A808-60A0EBF3DA9F}"/>
              </a:ext>
            </a:extLst>
          </p:cNvPr>
          <p:cNvSpPr txBox="1"/>
          <p:nvPr/>
        </p:nvSpPr>
        <p:spPr>
          <a:xfrm>
            <a:off x="8661732" y="1098771"/>
            <a:ext cx="1050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atin typeface="楷体" panose="02010609060101010101" pitchFamily="49" charset="-122"/>
                <a:ea typeface="楷体" panose="02010609060101010101" pitchFamily="49" charset="-122"/>
              </a:rPr>
              <a:t>流程</a:t>
            </a:r>
          </a:p>
        </p:txBody>
      </p:sp>
    </p:spTree>
    <p:extLst>
      <p:ext uri="{BB962C8B-B14F-4D97-AF65-F5344CB8AC3E}">
        <p14:creationId xmlns:p14="http://schemas.microsoft.com/office/powerpoint/2010/main" val="2581429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BD489-A5CA-2E3A-A0B3-5831BE468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D98F6682-B7F3-4633-41B0-4D2F268B72A9}"/>
              </a:ext>
            </a:extLst>
          </p:cNvPr>
          <p:cNvSpPr/>
          <p:nvPr/>
        </p:nvSpPr>
        <p:spPr>
          <a:xfrm>
            <a:off x="0" y="0"/>
            <a:ext cx="12192000" cy="821232"/>
          </a:xfrm>
          <a:prstGeom prst="rect">
            <a:avLst/>
          </a:prstGeom>
          <a:solidFill>
            <a:srgbClr val="194A9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9" name="Freeform 21">
            <a:extLst>
              <a:ext uri="{FF2B5EF4-FFF2-40B4-BE49-F238E27FC236}">
                <a16:creationId xmlns:a16="http://schemas.microsoft.com/office/drawing/2014/main" id="{1AE3E6F7-846B-16CA-2A02-217A58F95F8A}"/>
              </a:ext>
            </a:extLst>
          </p:cNvPr>
          <p:cNvSpPr/>
          <p:nvPr/>
        </p:nvSpPr>
        <p:spPr>
          <a:xfrm>
            <a:off x="9196624" y="0"/>
            <a:ext cx="2834731" cy="840599"/>
          </a:xfrm>
          <a:custGeom>
            <a:avLst/>
            <a:gdLst/>
            <a:ahLst/>
            <a:cxnLst/>
            <a:rect l="l" t="t" r="r" b="b"/>
            <a:pathLst>
              <a:path w="2642215" h="793112">
                <a:moveTo>
                  <a:pt x="0" y="0"/>
                </a:moveTo>
                <a:lnTo>
                  <a:pt x="2642216" y="0"/>
                </a:lnTo>
                <a:lnTo>
                  <a:pt x="2642216" y="793112"/>
                </a:lnTo>
                <a:lnTo>
                  <a:pt x="0" y="7931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19" name="请勿抄袭搬运！盗版必究！微信DAJU_PPT">
            <a:extLst>
              <a:ext uri="{FF2B5EF4-FFF2-40B4-BE49-F238E27FC236}">
                <a16:creationId xmlns:a16="http://schemas.microsoft.com/office/drawing/2014/main" id="{D2D46787-58ED-13EF-C78B-B37648701199}"/>
              </a:ext>
            </a:extLst>
          </p:cNvPr>
          <p:cNvSpPr txBox="1"/>
          <p:nvPr/>
        </p:nvSpPr>
        <p:spPr>
          <a:xfrm>
            <a:off x="370956" y="155028"/>
            <a:ext cx="6464300" cy="51117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US" altLang="zh-CN" sz="3600">
                <a:solidFill>
                  <a:srgbClr val="FFFFFF"/>
                </a:solidFill>
                <a:latin typeface="微软雅黑" charset="-122"/>
                <a:ea typeface="微软雅黑" charset="-122"/>
              </a:rPr>
              <a:t>2-</a:t>
            </a:r>
            <a:r>
              <a:rPr lang="zh-CN" altLang="en-US" sz="3600">
                <a:solidFill>
                  <a:srgbClr val="FFFFFF"/>
                </a:solidFill>
                <a:latin typeface="微软雅黑" charset="-122"/>
                <a:ea typeface="微软雅黑" charset="-122"/>
              </a:rPr>
              <a:t>数据集介绍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0D660F94-AC6C-3435-3A39-026584A2AA1D}"/>
              </a:ext>
            </a:extLst>
          </p:cNvPr>
          <p:cNvSpPr txBox="1">
            <a:spLocks/>
          </p:cNvSpPr>
          <p:nvPr/>
        </p:nvSpPr>
        <p:spPr>
          <a:xfrm>
            <a:off x="9505122" y="6588263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A330ECBB-EFA0-4B67-A466-676224D8611D}" type="slidenum">
              <a:rPr lang="zh-CN" altLang="en-US" sz="1200" smtClean="0">
                <a:solidFill>
                  <a:prstClr val="black">
                    <a:tint val="75000"/>
                  </a:prstClr>
                </a:solidFill>
                <a:latin typeface="微软雅黑" charset="-122"/>
                <a:ea typeface="微软雅黑" charset="-122"/>
              </a:rPr>
              <a:pPr algn="r">
                <a:defRPr/>
              </a:pPr>
              <a:t>3</a:t>
            </a:fld>
            <a:endParaRPr lang="zh-CN" altLang="en-US" sz="1200" dirty="0">
              <a:solidFill>
                <a:prstClr val="black">
                  <a:tint val="75000"/>
                </a:prstClr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5B5E60A-49CC-481E-A686-FF204BA64787}"/>
              </a:ext>
            </a:extLst>
          </p:cNvPr>
          <p:cNvSpPr txBox="1"/>
          <p:nvPr/>
        </p:nvSpPr>
        <p:spPr>
          <a:xfrm>
            <a:off x="370956" y="1345068"/>
            <a:ext cx="11130038" cy="1684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数据来源：</a:t>
            </a:r>
            <a:r>
              <a:rPr lang="en-US" altLang="zh-CN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C-MTEB </a:t>
            </a:r>
            <a:r>
              <a:rPr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中文文本向量化评测基准（中文医疗问答论坛真实记录）</a:t>
            </a:r>
            <a:endParaRPr lang="en-US" altLang="zh-CN" sz="240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40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三表分离设计：</a:t>
            </a:r>
            <a:r>
              <a:rPr lang="en-US" altLang="zh-CN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corpus </a:t>
            </a:r>
            <a:r>
              <a:rPr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答案库 </a:t>
            </a:r>
            <a:r>
              <a:rPr lang="en-US" altLang="zh-CN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 queries </a:t>
            </a:r>
            <a:r>
              <a:rPr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提问 </a:t>
            </a:r>
            <a:r>
              <a:rPr lang="en-US" altLang="zh-CN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 qrels </a:t>
            </a:r>
            <a:r>
              <a:rPr lang="zh-CN" altLang="en-US" sz="2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标注（多对多关系）</a:t>
            </a:r>
          </a:p>
        </p:txBody>
      </p:sp>
      <p:pic>
        <p:nvPicPr>
          <p:cNvPr id="6" name="图形 5">
            <a:extLst>
              <a:ext uri="{FF2B5EF4-FFF2-40B4-BE49-F238E27FC236}">
                <a16:creationId xmlns:a16="http://schemas.microsoft.com/office/drawing/2014/main" id="{2CE90269-6433-4A8B-91FD-96028BD325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21954" y="3113385"/>
            <a:ext cx="7481612" cy="339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128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1CFC7-C54D-1109-A2EF-C69B8192A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BDBB7404-2B66-0D68-0E18-29D552E36012}"/>
              </a:ext>
            </a:extLst>
          </p:cNvPr>
          <p:cNvSpPr/>
          <p:nvPr/>
        </p:nvSpPr>
        <p:spPr>
          <a:xfrm>
            <a:off x="0" y="0"/>
            <a:ext cx="12192000" cy="821232"/>
          </a:xfrm>
          <a:prstGeom prst="rect">
            <a:avLst/>
          </a:prstGeom>
          <a:solidFill>
            <a:srgbClr val="194A9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9" name="Freeform 21">
            <a:extLst>
              <a:ext uri="{FF2B5EF4-FFF2-40B4-BE49-F238E27FC236}">
                <a16:creationId xmlns:a16="http://schemas.microsoft.com/office/drawing/2014/main" id="{8D2F0ACF-9180-8258-CB40-D35D1085F33C}"/>
              </a:ext>
            </a:extLst>
          </p:cNvPr>
          <p:cNvSpPr/>
          <p:nvPr/>
        </p:nvSpPr>
        <p:spPr>
          <a:xfrm>
            <a:off x="9196624" y="0"/>
            <a:ext cx="2834731" cy="840599"/>
          </a:xfrm>
          <a:custGeom>
            <a:avLst/>
            <a:gdLst/>
            <a:ahLst/>
            <a:cxnLst/>
            <a:rect l="l" t="t" r="r" b="b"/>
            <a:pathLst>
              <a:path w="2642215" h="793112">
                <a:moveTo>
                  <a:pt x="0" y="0"/>
                </a:moveTo>
                <a:lnTo>
                  <a:pt x="2642216" y="0"/>
                </a:lnTo>
                <a:lnTo>
                  <a:pt x="2642216" y="793112"/>
                </a:lnTo>
                <a:lnTo>
                  <a:pt x="0" y="7931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19" name="请勿抄袭搬运！盗版必究！微信DAJU_PPT">
            <a:extLst>
              <a:ext uri="{FF2B5EF4-FFF2-40B4-BE49-F238E27FC236}">
                <a16:creationId xmlns:a16="http://schemas.microsoft.com/office/drawing/2014/main" id="{8F518240-833F-A688-3040-FF462140F6C6}"/>
              </a:ext>
            </a:extLst>
          </p:cNvPr>
          <p:cNvSpPr txBox="1"/>
          <p:nvPr/>
        </p:nvSpPr>
        <p:spPr>
          <a:xfrm>
            <a:off x="370955" y="155028"/>
            <a:ext cx="7597388" cy="51117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US" altLang="zh-CN" sz="3600">
                <a:solidFill>
                  <a:srgbClr val="FFFFFF"/>
                </a:solidFill>
                <a:latin typeface="微软雅黑" charset="-122"/>
                <a:ea typeface="微软雅黑" charset="-122"/>
              </a:rPr>
              <a:t>3-</a:t>
            </a:r>
            <a:r>
              <a:rPr lang="zh-CN" altLang="en-US" sz="3600">
                <a:solidFill>
                  <a:srgbClr val="FFFFFF"/>
                </a:solidFill>
                <a:latin typeface="微软雅黑" charset="-122"/>
                <a:ea typeface="微软雅黑" charset="-122"/>
              </a:rPr>
              <a:t>阶段一：文本向量化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B0AD76D3-5BA9-1FB2-BD9A-33D4F83F050F}"/>
              </a:ext>
            </a:extLst>
          </p:cNvPr>
          <p:cNvSpPr txBox="1">
            <a:spLocks/>
          </p:cNvSpPr>
          <p:nvPr/>
        </p:nvSpPr>
        <p:spPr>
          <a:xfrm>
            <a:off x="9505122" y="6588263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A330ECBB-EFA0-4B67-A466-676224D8611D}" type="slidenum">
              <a:rPr lang="zh-CN" altLang="en-US" sz="1200" smtClean="0">
                <a:solidFill>
                  <a:prstClr val="black">
                    <a:tint val="75000"/>
                  </a:prstClr>
                </a:solidFill>
                <a:latin typeface="微软雅黑" charset="-122"/>
                <a:ea typeface="微软雅黑" charset="-122"/>
              </a:rPr>
              <a:pPr algn="r">
                <a:defRPr/>
              </a:pPr>
              <a:t>4</a:t>
            </a:fld>
            <a:endParaRPr lang="zh-CN" altLang="en-US" sz="1200" dirty="0">
              <a:solidFill>
                <a:prstClr val="black">
                  <a:tint val="75000"/>
                </a:prstClr>
              </a:solidFill>
              <a:latin typeface="微软雅黑" charset="-122"/>
              <a:ea typeface="微软雅黑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61C8702-0CA3-4110-9A7C-DC8D4706A8AA}"/>
              </a:ext>
            </a:extLst>
          </p:cNvPr>
          <p:cNvGrpSpPr/>
          <p:nvPr/>
        </p:nvGrpSpPr>
        <p:grpSpPr>
          <a:xfrm>
            <a:off x="2078499" y="1315983"/>
            <a:ext cx="8309311" cy="3210581"/>
            <a:chOff x="433138" y="1452291"/>
            <a:chExt cx="8035000" cy="3210581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53AD1526-D0C7-4CEC-8150-361F8EDDDD74}"/>
                </a:ext>
              </a:extLst>
            </p:cNvPr>
            <p:cNvSpPr/>
            <p:nvPr/>
          </p:nvSpPr>
          <p:spPr>
            <a:xfrm>
              <a:off x="433138" y="1452291"/>
              <a:ext cx="7961168" cy="321058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C3336F0-8B27-4D55-AD08-650DDB7C8F6B}"/>
                </a:ext>
              </a:extLst>
            </p:cNvPr>
            <p:cNvSpPr txBox="1"/>
            <p:nvPr/>
          </p:nvSpPr>
          <p:spPr>
            <a:xfrm>
              <a:off x="3636522" y="1545546"/>
              <a:ext cx="162823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400">
                  <a:latin typeface="KaiTi" panose="02010609060101010101" pitchFamily="49" charset="-122"/>
                  <a:ea typeface="KaiTi" panose="02010609060101010101" pitchFamily="49" charset="-122"/>
                </a:rPr>
                <a:t>模型信息</a:t>
              </a:r>
              <a:endParaRPr lang="zh-CN" altLang="en-US" sz="2400" dirty="0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416165E5-6318-40D8-9177-0D219B4502B7}"/>
                </a:ext>
              </a:extLst>
            </p:cNvPr>
            <p:cNvSpPr txBox="1"/>
            <p:nvPr/>
          </p:nvSpPr>
          <p:spPr>
            <a:xfrm>
              <a:off x="433138" y="2100466"/>
              <a:ext cx="8035000" cy="25545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u"/>
              </a:pPr>
              <a:r>
                <a:rPr lang="zh-CN" altLang="en-US" sz="200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模型：</a:t>
              </a:r>
              <a:r>
                <a:rPr lang="en-US" altLang="zh-CN" sz="200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BAAI/bge-small-zh-v1.5</a:t>
              </a:r>
            </a:p>
            <a:p>
              <a:endParaRPr lang="en-US" altLang="zh-CN" sz="200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endParaRPr>
            </a:p>
            <a:p>
              <a:pPr marL="342900" indent="-342900">
                <a:buFont typeface="Wingdings" panose="05000000000000000000" pitchFamily="2" charset="2"/>
                <a:buChar char="u"/>
              </a:pPr>
              <a:r>
                <a:rPr lang="zh-CN" altLang="en-US" sz="200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向量维度：</a:t>
              </a:r>
              <a:r>
                <a:rPr lang="en-US" altLang="zh-CN" sz="200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512</a:t>
              </a:r>
            </a:p>
            <a:p>
              <a:endParaRPr lang="en-US" altLang="zh-CN" sz="200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endParaRPr>
            </a:p>
            <a:p>
              <a:pPr marL="342900" indent="-342900">
                <a:buFont typeface="Wingdings" panose="05000000000000000000" pitchFamily="2" charset="2"/>
                <a:buChar char="u"/>
              </a:pPr>
              <a:r>
                <a:rPr lang="zh-CN" altLang="en-US" sz="200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编码 </a:t>
              </a:r>
              <a:r>
                <a:rPr lang="en-US" altLang="zh-CN" sz="200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10 </a:t>
              </a:r>
              <a:r>
                <a:rPr lang="zh-CN" altLang="en-US" sz="200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万 </a:t>
              </a:r>
              <a:r>
                <a:rPr lang="en-US" altLang="zh-CN" sz="200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corpus </a:t>
              </a:r>
              <a:r>
                <a:rPr lang="zh-CN" altLang="en-US" sz="200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耗时：</a:t>
              </a:r>
              <a:r>
                <a:rPr lang="en-US" altLang="zh-CN" sz="200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64 </a:t>
              </a:r>
              <a:r>
                <a:rPr lang="zh-CN" altLang="en-US" sz="200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秒（</a:t>
              </a:r>
              <a:r>
                <a:rPr lang="en-US" altLang="zh-CN" sz="200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GPU </a:t>
              </a:r>
              <a:r>
                <a:rPr lang="zh-CN" altLang="en-US" sz="200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：</a:t>
              </a:r>
              <a:r>
                <a:rPr lang="en-US" altLang="zh-CN" sz="200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4080</a:t>
              </a:r>
              <a:r>
                <a:rPr lang="zh-CN" altLang="en-US" sz="200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）</a:t>
              </a:r>
              <a:endParaRPr lang="en-US" altLang="zh-CN" sz="200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endParaRPr>
            </a:p>
            <a:p>
              <a:endParaRPr lang="zh-CN" altLang="en-US" sz="200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endParaRPr>
            </a:p>
            <a:p>
              <a:pPr marL="342900" indent="-342900">
                <a:buFont typeface="Wingdings" panose="05000000000000000000" pitchFamily="2" charset="2"/>
                <a:buChar char="u"/>
              </a:pPr>
              <a:r>
                <a:rPr lang="zh-CN" altLang="en-US" sz="200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关键参数：</a:t>
              </a:r>
              <a:r>
                <a:rPr lang="en-US" altLang="zh-CN" sz="200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normalize_embeddings=True</a:t>
              </a:r>
              <a:r>
                <a:rPr lang="zh-CN" altLang="en-US" sz="200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（归一化后内积 </a:t>
              </a:r>
              <a:r>
                <a:rPr lang="en-US" altLang="zh-CN" sz="200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= </a:t>
              </a:r>
              <a:r>
                <a:rPr lang="zh-CN" altLang="en-US" sz="200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余弦相似度）</a:t>
              </a:r>
              <a:endParaRPr lang="zh-CN" altLang="en-US" sz="20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671C6CEC-BBC3-4914-92E0-AC30A42928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4811" y="4737988"/>
            <a:ext cx="5604828" cy="160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739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291C2-AF33-D8B5-BBC0-CE4C26C22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238AAF84-81C8-B18A-0976-5946CB3A3E29}"/>
              </a:ext>
            </a:extLst>
          </p:cNvPr>
          <p:cNvSpPr/>
          <p:nvPr/>
        </p:nvSpPr>
        <p:spPr>
          <a:xfrm>
            <a:off x="0" y="0"/>
            <a:ext cx="12192000" cy="821232"/>
          </a:xfrm>
          <a:prstGeom prst="rect">
            <a:avLst/>
          </a:prstGeom>
          <a:solidFill>
            <a:srgbClr val="194A9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9" name="Freeform 21">
            <a:extLst>
              <a:ext uri="{FF2B5EF4-FFF2-40B4-BE49-F238E27FC236}">
                <a16:creationId xmlns:a16="http://schemas.microsoft.com/office/drawing/2014/main" id="{A9DF9B17-288C-62BC-CC2E-634E839C522E}"/>
              </a:ext>
            </a:extLst>
          </p:cNvPr>
          <p:cNvSpPr/>
          <p:nvPr/>
        </p:nvSpPr>
        <p:spPr>
          <a:xfrm>
            <a:off x="9196624" y="0"/>
            <a:ext cx="2834731" cy="840599"/>
          </a:xfrm>
          <a:custGeom>
            <a:avLst/>
            <a:gdLst/>
            <a:ahLst/>
            <a:cxnLst/>
            <a:rect l="l" t="t" r="r" b="b"/>
            <a:pathLst>
              <a:path w="2642215" h="793112">
                <a:moveTo>
                  <a:pt x="0" y="0"/>
                </a:moveTo>
                <a:lnTo>
                  <a:pt x="2642216" y="0"/>
                </a:lnTo>
                <a:lnTo>
                  <a:pt x="2642216" y="793112"/>
                </a:lnTo>
                <a:lnTo>
                  <a:pt x="0" y="7931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19" name="请勿抄袭搬运！盗版必究！微信DAJU_PPT">
            <a:extLst>
              <a:ext uri="{FF2B5EF4-FFF2-40B4-BE49-F238E27FC236}">
                <a16:creationId xmlns:a16="http://schemas.microsoft.com/office/drawing/2014/main" id="{5DDC0F7D-E015-A49D-8975-65D499AA6CE8}"/>
              </a:ext>
            </a:extLst>
          </p:cNvPr>
          <p:cNvSpPr txBox="1"/>
          <p:nvPr/>
        </p:nvSpPr>
        <p:spPr>
          <a:xfrm>
            <a:off x="370955" y="155028"/>
            <a:ext cx="9903265" cy="51117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US" altLang="zh-CN" sz="3600">
                <a:solidFill>
                  <a:srgbClr val="FFFFFF"/>
                </a:solidFill>
                <a:latin typeface="微软雅黑" charset="-122"/>
                <a:ea typeface="微软雅黑" charset="-122"/>
              </a:rPr>
              <a:t>4-</a:t>
            </a:r>
            <a:r>
              <a:rPr lang="zh-CN" altLang="en-US" sz="3600">
                <a:solidFill>
                  <a:srgbClr val="FFFFFF"/>
                </a:solidFill>
                <a:latin typeface="微软雅黑" charset="-122"/>
                <a:ea typeface="微软雅黑" charset="-122"/>
              </a:rPr>
              <a:t>阶段二：索引构建 </a:t>
            </a:r>
            <a:r>
              <a:rPr lang="en-US" altLang="zh-CN" sz="3600">
                <a:solidFill>
                  <a:srgbClr val="FFFFFF"/>
                </a:solidFill>
                <a:latin typeface="微软雅黑" charset="-122"/>
                <a:ea typeface="微软雅黑" charset="-122"/>
              </a:rPr>
              <a:t>+ </a:t>
            </a:r>
            <a:r>
              <a:rPr lang="zh-CN" altLang="en-US" sz="3600">
                <a:solidFill>
                  <a:srgbClr val="FFFFFF"/>
                </a:solidFill>
                <a:latin typeface="微软雅黑" charset="-122"/>
                <a:ea typeface="微软雅黑" charset="-122"/>
              </a:rPr>
              <a:t>阶段三：检索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8BD90BEF-CFE6-6817-D4CD-5ACB493E9C4D}"/>
              </a:ext>
            </a:extLst>
          </p:cNvPr>
          <p:cNvSpPr txBox="1">
            <a:spLocks/>
          </p:cNvSpPr>
          <p:nvPr/>
        </p:nvSpPr>
        <p:spPr>
          <a:xfrm>
            <a:off x="9505122" y="6588263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A330ECBB-EFA0-4B67-A466-676224D8611D}" type="slidenum">
              <a:rPr lang="zh-CN" altLang="en-US" sz="1200" smtClean="0">
                <a:solidFill>
                  <a:prstClr val="black">
                    <a:tint val="75000"/>
                  </a:prstClr>
                </a:solidFill>
                <a:latin typeface="微软雅黑" charset="-122"/>
                <a:ea typeface="微软雅黑" charset="-122"/>
              </a:rPr>
              <a:pPr algn="r">
                <a:defRPr/>
              </a:pPr>
              <a:t>5</a:t>
            </a:fld>
            <a:endParaRPr lang="zh-CN" altLang="en-US" sz="1200" dirty="0">
              <a:solidFill>
                <a:prstClr val="black">
                  <a:tint val="75000"/>
                </a:prstClr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7F41CCD-FF9A-414A-AEE5-9CACD3AB329F}"/>
              </a:ext>
            </a:extLst>
          </p:cNvPr>
          <p:cNvSpPr txBox="1"/>
          <p:nvPr/>
        </p:nvSpPr>
        <p:spPr>
          <a:xfrm>
            <a:off x="2623732" y="1147977"/>
            <a:ext cx="5236700" cy="1880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索引类型：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IndexFlatIP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（精确内积搜索）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索引规模：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100,001 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向量 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× 512 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维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检索 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3999 query × Top-50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487 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毫秒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每条 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query 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召回耗时：约 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0.12 ms</a:t>
            </a:r>
            <a:endParaRPr lang="zh-CN" altLang="en-US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3BD5367-3B25-4089-80E0-247F31EF33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4464" y="3191593"/>
            <a:ext cx="6412160" cy="329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875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291C2-AF33-D8B5-BBC0-CE4C26C22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238AAF84-81C8-B18A-0976-5946CB3A3E29}"/>
              </a:ext>
            </a:extLst>
          </p:cNvPr>
          <p:cNvSpPr/>
          <p:nvPr/>
        </p:nvSpPr>
        <p:spPr>
          <a:xfrm>
            <a:off x="0" y="0"/>
            <a:ext cx="12192000" cy="821232"/>
          </a:xfrm>
          <a:prstGeom prst="rect">
            <a:avLst/>
          </a:prstGeom>
          <a:solidFill>
            <a:srgbClr val="194A9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9" name="Freeform 21">
            <a:extLst>
              <a:ext uri="{FF2B5EF4-FFF2-40B4-BE49-F238E27FC236}">
                <a16:creationId xmlns:a16="http://schemas.microsoft.com/office/drawing/2014/main" id="{A9DF9B17-288C-62BC-CC2E-634E839C522E}"/>
              </a:ext>
            </a:extLst>
          </p:cNvPr>
          <p:cNvSpPr/>
          <p:nvPr/>
        </p:nvSpPr>
        <p:spPr>
          <a:xfrm>
            <a:off x="9196624" y="0"/>
            <a:ext cx="2834731" cy="840599"/>
          </a:xfrm>
          <a:custGeom>
            <a:avLst/>
            <a:gdLst/>
            <a:ahLst/>
            <a:cxnLst/>
            <a:rect l="l" t="t" r="r" b="b"/>
            <a:pathLst>
              <a:path w="2642215" h="793112">
                <a:moveTo>
                  <a:pt x="0" y="0"/>
                </a:moveTo>
                <a:lnTo>
                  <a:pt x="2642216" y="0"/>
                </a:lnTo>
                <a:lnTo>
                  <a:pt x="2642216" y="793112"/>
                </a:lnTo>
                <a:lnTo>
                  <a:pt x="0" y="7931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19" name="请勿抄袭搬运！盗版必究！微信DAJU_PPT">
            <a:extLst>
              <a:ext uri="{FF2B5EF4-FFF2-40B4-BE49-F238E27FC236}">
                <a16:creationId xmlns:a16="http://schemas.microsoft.com/office/drawing/2014/main" id="{5DDC0F7D-E015-A49D-8975-65D499AA6CE8}"/>
              </a:ext>
            </a:extLst>
          </p:cNvPr>
          <p:cNvSpPr txBox="1"/>
          <p:nvPr/>
        </p:nvSpPr>
        <p:spPr>
          <a:xfrm>
            <a:off x="370956" y="155028"/>
            <a:ext cx="7103270" cy="51117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US" altLang="zh-CN" sz="3600">
                <a:solidFill>
                  <a:srgbClr val="FFFFFF"/>
                </a:solidFill>
                <a:latin typeface="微软雅黑" charset="-122"/>
                <a:ea typeface="微软雅黑" charset="-122"/>
              </a:rPr>
              <a:t>5-</a:t>
            </a:r>
            <a:r>
              <a:rPr lang="zh-CN" altLang="en-US" sz="3600">
                <a:solidFill>
                  <a:srgbClr val="FFFFFF"/>
                </a:solidFill>
                <a:latin typeface="微软雅黑" charset="-122"/>
                <a:ea typeface="微软雅黑" charset="-122"/>
              </a:rPr>
              <a:t>阶段四：</a:t>
            </a:r>
            <a:r>
              <a:rPr lang="en-US" altLang="zh-CN" sz="3600">
                <a:solidFill>
                  <a:srgbClr val="FFFFFF"/>
                </a:solidFill>
                <a:latin typeface="微软雅黑" charset="-122"/>
                <a:ea typeface="微软雅黑" charset="-122"/>
              </a:rPr>
              <a:t>Cross-Encoder </a:t>
            </a:r>
            <a:r>
              <a:rPr lang="zh-CN" altLang="en-US" sz="3600">
                <a:solidFill>
                  <a:srgbClr val="FFFFFF"/>
                </a:solidFill>
                <a:latin typeface="微软雅黑" charset="-122"/>
                <a:ea typeface="微软雅黑" charset="-122"/>
              </a:rPr>
              <a:t>重排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8BD90BEF-CFE6-6817-D4CD-5ACB493E9C4D}"/>
              </a:ext>
            </a:extLst>
          </p:cNvPr>
          <p:cNvSpPr txBox="1">
            <a:spLocks/>
          </p:cNvSpPr>
          <p:nvPr/>
        </p:nvSpPr>
        <p:spPr>
          <a:xfrm>
            <a:off x="9505122" y="6588263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A330ECBB-EFA0-4B67-A466-676224D8611D}" type="slidenum">
              <a:rPr lang="zh-CN" altLang="en-US" sz="1200" smtClean="0">
                <a:solidFill>
                  <a:prstClr val="black">
                    <a:tint val="75000"/>
                  </a:prstClr>
                </a:solidFill>
                <a:latin typeface="微软雅黑" charset="-122"/>
                <a:ea typeface="微软雅黑" charset="-122"/>
              </a:rPr>
              <a:pPr algn="r">
                <a:defRPr/>
              </a:pPr>
              <a:t>6</a:t>
            </a:fld>
            <a:endParaRPr lang="zh-CN" altLang="en-US" sz="1200" dirty="0">
              <a:solidFill>
                <a:prstClr val="black">
                  <a:tint val="75000"/>
                </a:prstClr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7F41CCD-FF9A-414A-AEE5-9CACD3AB329F}"/>
              </a:ext>
            </a:extLst>
          </p:cNvPr>
          <p:cNvSpPr txBox="1"/>
          <p:nvPr/>
        </p:nvSpPr>
        <p:spPr>
          <a:xfrm>
            <a:off x="459002" y="1658926"/>
            <a:ext cx="5236700" cy="1418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重排模型：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BAAI/bge-reranker-base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 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Top-50 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候选重新评分，输出最终 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Top-10</a:t>
            </a:r>
            <a:endParaRPr lang="zh-CN" altLang="en-US" sz="2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8DDAFDB-C9E6-412B-8982-83F88A921714}"/>
              </a:ext>
            </a:extLst>
          </p:cNvPr>
          <p:cNvSpPr txBox="1"/>
          <p:nvPr/>
        </p:nvSpPr>
        <p:spPr>
          <a:xfrm>
            <a:off x="3302146" y="1326598"/>
            <a:ext cx="54566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>
                <a:latin typeface="KaiTi" panose="02010609060101010101" pitchFamily="49" charset="-122"/>
                <a:ea typeface="KaiTi" panose="02010609060101010101" pitchFamily="49" charset="-122"/>
              </a:rPr>
              <a:t>左右对比表（重排前 </a:t>
            </a:r>
            <a:r>
              <a:rPr lang="en-US" altLang="zh-CN" sz="2400">
                <a:latin typeface="KaiTi" panose="02010609060101010101" pitchFamily="49" charset="-122"/>
                <a:ea typeface="KaiTi" panose="02010609060101010101" pitchFamily="49" charset="-122"/>
              </a:rPr>
              <a:t>vs </a:t>
            </a:r>
            <a:r>
              <a:rPr lang="zh-CN" altLang="en-US" sz="2400">
                <a:latin typeface="KaiTi" panose="02010609060101010101" pitchFamily="49" charset="-122"/>
                <a:ea typeface="KaiTi" panose="02010609060101010101" pitchFamily="49" charset="-122"/>
              </a:rPr>
              <a:t>重排后）</a:t>
            </a:r>
            <a:endParaRPr lang="zh-CN" altLang="en-US" sz="2400" dirty="0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A4167B51-4892-4A80-9754-40DDD3E68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55053"/>
              </p:ext>
            </p:extLst>
          </p:nvPr>
        </p:nvGraphicFramePr>
        <p:xfrm>
          <a:off x="459002" y="4279694"/>
          <a:ext cx="5397894" cy="1463040"/>
        </p:xfrm>
        <a:graphic>
          <a:graphicData uri="http://schemas.openxmlformats.org/drawingml/2006/table">
            <a:tbl>
              <a:tblPr>
                <a:tableStyleId>{EB9631B5-78F2-41C9-869B-9F39066F8104}</a:tableStyleId>
              </a:tblPr>
              <a:tblGrid>
                <a:gridCol w="1046008">
                  <a:extLst>
                    <a:ext uri="{9D8B030D-6E8A-4147-A177-3AD203B41FA5}">
                      <a16:colId xmlns:a16="http://schemas.microsoft.com/office/drawing/2014/main" val="392011008"/>
                    </a:ext>
                  </a:extLst>
                </a:gridCol>
                <a:gridCol w="4351886">
                  <a:extLst>
                    <a:ext uri="{9D8B030D-6E8A-4147-A177-3AD203B41FA5}">
                      <a16:colId xmlns:a16="http://schemas.microsoft.com/office/drawing/2014/main" val="22178043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排名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文档摘要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4285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睾丸炎，吃了左氧和诺氟沙星</a:t>
                      </a:r>
                      <a:r>
                        <a:rPr lang="en-US" altLang="zh-CN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...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774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导致男性不育的因素很多</a:t>
                      </a:r>
                      <a:r>
                        <a:rPr lang="en-US" altLang="zh-CN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...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4951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睾丸静脉曲张会影响妻子受孕</a:t>
                      </a:r>
                      <a:r>
                        <a:rPr lang="en-US" altLang="zh-CN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...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4741162"/>
                  </a:ext>
                </a:extLst>
              </a:tr>
            </a:tbl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BC450B21-3190-437E-910D-3BE43744E6BB}"/>
              </a:ext>
            </a:extLst>
          </p:cNvPr>
          <p:cNvSpPr txBox="1"/>
          <p:nvPr/>
        </p:nvSpPr>
        <p:spPr>
          <a:xfrm>
            <a:off x="370956" y="3595494"/>
            <a:ext cx="4388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重排前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 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向量召回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Top3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75D80F3-0EEC-4354-8562-C26245B46CA8}"/>
              </a:ext>
            </a:extLst>
          </p:cNvPr>
          <p:cNvSpPr txBox="1"/>
          <p:nvPr/>
        </p:nvSpPr>
        <p:spPr>
          <a:xfrm>
            <a:off x="6096000" y="3595494"/>
            <a:ext cx="4388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重排后 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Top3</a:t>
            </a:r>
            <a:r>
              <a:rPr lang="zh-CN" altLang="en-US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93155F5B-E54C-4668-8B3E-36146BC12C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129345"/>
              </p:ext>
            </p:extLst>
          </p:nvPr>
        </p:nvGraphicFramePr>
        <p:xfrm>
          <a:off x="6246122" y="4142534"/>
          <a:ext cx="5901003" cy="173736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076035">
                  <a:extLst>
                    <a:ext uri="{9D8B030D-6E8A-4147-A177-3AD203B41FA5}">
                      <a16:colId xmlns:a16="http://schemas.microsoft.com/office/drawing/2014/main" val="1721759431"/>
                    </a:ext>
                  </a:extLst>
                </a:gridCol>
                <a:gridCol w="4824968">
                  <a:extLst>
                    <a:ext uri="{9D8B030D-6E8A-4147-A177-3AD203B41FA5}">
                      <a16:colId xmlns:a16="http://schemas.microsoft.com/office/drawing/2014/main" val="28794282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排名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文档摘要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522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睾丸炎是男科常见疾病，分为急性化脓性睾丸炎和腮腺炎性睾丸炎</a:t>
                      </a:r>
                      <a:r>
                        <a:rPr lang="en-US" altLang="zh-CN" b="1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...</a:t>
                      </a:r>
                      <a:endParaRPr lang="zh-CN" altLang="en-US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5385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睾丸炎，吃了左氧和诺氟沙星</a:t>
                      </a:r>
                      <a:r>
                        <a:rPr lang="en-US" altLang="zh-CN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...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395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睾丸炎通常由细菌和病毒引起</a:t>
                      </a:r>
                      <a:r>
                        <a:rPr lang="en-US" altLang="zh-CN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...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48530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1864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291C2-AF33-D8B5-BBC0-CE4C26C22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238AAF84-81C8-B18A-0976-5946CB3A3E29}"/>
              </a:ext>
            </a:extLst>
          </p:cNvPr>
          <p:cNvSpPr/>
          <p:nvPr/>
        </p:nvSpPr>
        <p:spPr>
          <a:xfrm>
            <a:off x="0" y="0"/>
            <a:ext cx="12192000" cy="821232"/>
          </a:xfrm>
          <a:prstGeom prst="rect">
            <a:avLst/>
          </a:prstGeom>
          <a:solidFill>
            <a:srgbClr val="194A9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9" name="Freeform 21">
            <a:extLst>
              <a:ext uri="{FF2B5EF4-FFF2-40B4-BE49-F238E27FC236}">
                <a16:creationId xmlns:a16="http://schemas.microsoft.com/office/drawing/2014/main" id="{A9DF9B17-288C-62BC-CC2E-634E839C522E}"/>
              </a:ext>
            </a:extLst>
          </p:cNvPr>
          <p:cNvSpPr/>
          <p:nvPr/>
        </p:nvSpPr>
        <p:spPr>
          <a:xfrm>
            <a:off x="9196624" y="0"/>
            <a:ext cx="2834731" cy="840599"/>
          </a:xfrm>
          <a:custGeom>
            <a:avLst/>
            <a:gdLst/>
            <a:ahLst/>
            <a:cxnLst/>
            <a:rect l="l" t="t" r="r" b="b"/>
            <a:pathLst>
              <a:path w="2642215" h="793112">
                <a:moveTo>
                  <a:pt x="0" y="0"/>
                </a:moveTo>
                <a:lnTo>
                  <a:pt x="2642216" y="0"/>
                </a:lnTo>
                <a:lnTo>
                  <a:pt x="2642216" y="793112"/>
                </a:lnTo>
                <a:lnTo>
                  <a:pt x="0" y="7931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19" name="请勿抄袭搬运！盗版必究！微信DAJU_PPT">
            <a:extLst>
              <a:ext uri="{FF2B5EF4-FFF2-40B4-BE49-F238E27FC236}">
                <a16:creationId xmlns:a16="http://schemas.microsoft.com/office/drawing/2014/main" id="{5DDC0F7D-E015-A49D-8975-65D499AA6CE8}"/>
              </a:ext>
            </a:extLst>
          </p:cNvPr>
          <p:cNvSpPr txBox="1"/>
          <p:nvPr/>
        </p:nvSpPr>
        <p:spPr>
          <a:xfrm>
            <a:off x="370956" y="155028"/>
            <a:ext cx="7103270" cy="51117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US" altLang="zh-CN" sz="3600">
                <a:solidFill>
                  <a:srgbClr val="FFFFFF"/>
                </a:solidFill>
                <a:latin typeface="微软雅黑" charset="-122"/>
                <a:ea typeface="微软雅黑" charset="-122"/>
              </a:rPr>
              <a:t>6-</a:t>
            </a:r>
            <a:r>
              <a:rPr lang="zh-CN" altLang="en-US" sz="3600">
                <a:solidFill>
                  <a:srgbClr val="FFFFFF"/>
                </a:solidFill>
                <a:latin typeface="微软雅黑" charset="-122"/>
                <a:ea typeface="微软雅黑" charset="-122"/>
              </a:rPr>
              <a:t>三方案评估指标 </a:t>
            </a:r>
            <a:r>
              <a:rPr lang="en-US" altLang="zh-CN" sz="3600">
                <a:solidFill>
                  <a:srgbClr val="FFFFFF"/>
                </a:solidFill>
                <a:latin typeface="微软雅黑" charset="-122"/>
                <a:ea typeface="微软雅黑" charset="-122"/>
              </a:rPr>
              <a:t>+ </a:t>
            </a:r>
            <a:r>
              <a:rPr lang="zh-CN" altLang="en-US" sz="3600">
                <a:solidFill>
                  <a:srgbClr val="FFFFFF"/>
                </a:solidFill>
                <a:latin typeface="微软雅黑" charset="-122"/>
                <a:ea typeface="微软雅黑" charset="-122"/>
              </a:rPr>
              <a:t>耗时对比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8BD90BEF-CFE6-6817-D4CD-5ACB493E9C4D}"/>
              </a:ext>
            </a:extLst>
          </p:cNvPr>
          <p:cNvSpPr txBox="1">
            <a:spLocks/>
          </p:cNvSpPr>
          <p:nvPr/>
        </p:nvSpPr>
        <p:spPr>
          <a:xfrm>
            <a:off x="9505122" y="6588263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A330ECBB-EFA0-4B67-A466-676224D8611D}" type="slidenum">
              <a:rPr lang="zh-CN" altLang="en-US" sz="1200" smtClean="0">
                <a:solidFill>
                  <a:prstClr val="black">
                    <a:tint val="75000"/>
                  </a:prstClr>
                </a:solidFill>
                <a:latin typeface="微软雅黑" charset="-122"/>
                <a:ea typeface="微软雅黑" charset="-122"/>
              </a:rPr>
              <a:pPr algn="r">
                <a:defRPr/>
              </a:pPr>
              <a:t>7</a:t>
            </a:fld>
            <a:endParaRPr lang="zh-CN" altLang="en-US" sz="1200" dirty="0">
              <a:solidFill>
                <a:prstClr val="black">
                  <a:tint val="75000"/>
                </a:prstClr>
              </a:solidFill>
              <a:latin typeface="微软雅黑" charset="-122"/>
              <a:ea typeface="微软雅黑" charset="-122"/>
            </a:endParaRPr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A79F4488-5A64-4699-B1F1-3DC8E2574B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011750"/>
            <a:ext cx="6007967" cy="3357393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481EC8E-7754-41E0-95C8-D97D0A9096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330505"/>
              </p:ext>
            </p:extLst>
          </p:nvPr>
        </p:nvGraphicFramePr>
        <p:xfrm>
          <a:off x="370956" y="4559662"/>
          <a:ext cx="4787821" cy="121920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643742">
                  <a:extLst>
                    <a:ext uri="{9D8B030D-6E8A-4147-A177-3AD203B41FA5}">
                      <a16:colId xmlns:a16="http://schemas.microsoft.com/office/drawing/2014/main" val="977938278"/>
                    </a:ext>
                  </a:extLst>
                </a:gridCol>
                <a:gridCol w="1079106">
                  <a:extLst>
                    <a:ext uri="{9D8B030D-6E8A-4147-A177-3AD203B41FA5}">
                      <a16:colId xmlns:a16="http://schemas.microsoft.com/office/drawing/2014/main" val="1648325253"/>
                    </a:ext>
                  </a:extLst>
                </a:gridCol>
                <a:gridCol w="931438">
                  <a:extLst>
                    <a:ext uri="{9D8B030D-6E8A-4147-A177-3AD203B41FA5}">
                      <a16:colId xmlns:a16="http://schemas.microsoft.com/office/drawing/2014/main" val="3982859497"/>
                    </a:ext>
                  </a:extLst>
                </a:gridCol>
                <a:gridCol w="1133535">
                  <a:extLst>
                    <a:ext uri="{9D8B030D-6E8A-4147-A177-3AD203B41FA5}">
                      <a16:colId xmlns:a16="http://schemas.microsoft.com/office/drawing/2014/main" val="12957037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方法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Recall@10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MRR@10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NDCG@10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1381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BM25（</a:t>
                      </a:r>
                      <a:r>
                        <a:rPr lang="zh-CN" alt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关键词）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0.184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0.177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0.150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0672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Dense（</a:t>
                      </a:r>
                      <a:r>
                        <a:rPr lang="zh-CN" altLang="en-US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向量召回）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0.437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0.375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0.347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587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Dense + Rerank</a:t>
                      </a:r>
                      <a:endParaRPr lang="en-US" sz="140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0.470</a:t>
                      </a:r>
                      <a:endParaRPr lang="zh-CN" altLang="en-US" sz="140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0.403</a:t>
                      </a:r>
                      <a:endParaRPr lang="zh-CN" altLang="en-US" sz="140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0.375</a:t>
                      </a:r>
                      <a:endParaRPr lang="zh-CN" altLang="en-US" sz="140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83941359"/>
                  </a:ext>
                </a:extLst>
              </a:tr>
            </a:tbl>
          </a:graphicData>
        </a:graphic>
      </p:graphicFrame>
      <p:pic>
        <p:nvPicPr>
          <p:cNvPr id="18" name="图形 17">
            <a:extLst>
              <a:ext uri="{FF2B5EF4-FFF2-40B4-BE49-F238E27FC236}">
                <a16:creationId xmlns:a16="http://schemas.microsoft.com/office/drawing/2014/main" id="{C4848A24-25BF-4ADA-BFA1-71F7A547EA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07967" y="1100906"/>
            <a:ext cx="6007968" cy="270836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F0F7186D-D6FD-42EE-AC1F-1072EC315F5D}"/>
              </a:ext>
            </a:extLst>
          </p:cNvPr>
          <p:cNvSpPr txBox="1"/>
          <p:nvPr/>
        </p:nvSpPr>
        <p:spPr>
          <a:xfrm>
            <a:off x="6870443" y="3806487"/>
            <a:ext cx="5611212" cy="2964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精度越高，耗时越长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BM25 </a:t>
            </a:r>
            <a:r>
              <a:rPr lang="zh-CN" altLang="en-US" sz="1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召回需 </a:t>
            </a:r>
            <a:r>
              <a:rPr lang="en-US" altLang="zh-CN" sz="1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35 </a:t>
            </a:r>
            <a:r>
              <a:rPr lang="zh-CN" altLang="en-US" sz="1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分钟（要遍历 </a:t>
            </a:r>
            <a:r>
              <a:rPr lang="en-US" altLang="zh-CN" sz="1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corpus </a:t>
            </a:r>
            <a:r>
              <a:rPr lang="zh-CN" altLang="en-US" sz="1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算分）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向量检索仅 </a:t>
            </a:r>
            <a:r>
              <a:rPr lang="en-US" altLang="zh-CN" sz="1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0.5 </a:t>
            </a:r>
            <a:r>
              <a:rPr lang="zh-CN" altLang="en-US" sz="1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秒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重排需 </a:t>
            </a:r>
            <a:r>
              <a:rPr lang="en-US" altLang="zh-CN" sz="1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 </a:t>
            </a:r>
            <a:r>
              <a:rPr lang="zh-CN" altLang="en-US" sz="1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分钟（</a:t>
            </a:r>
            <a:r>
              <a:rPr lang="en-US" altLang="zh-CN" sz="1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cross-encoder </a:t>
            </a:r>
            <a:r>
              <a:rPr lang="zh-CN" altLang="en-US" sz="1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慢但准）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合理的两阶段设计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召回阶段追求高</a:t>
            </a:r>
            <a:r>
              <a:rPr lang="en-US" altLang="zh-CN" sz="1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Recall</a:t>
            </a:r>
            <a:r>
              <a:rPr lang="zh-CN" altLang="en-US" sz="1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：向量检索快速圈出 </a:t>
            </a:r>
            <a:r>
              <a:rPr lang="en-US" altLang="zh-CN" sz="1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Top-50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重排阶段追求高</a:t>
            </a:r>
            <a:r>
              <a:rPr lang="en-US" altLang="zh-CN" sz="1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Precision</a:t>
            </a:r>
            <a:r>
              <a:rPr lang="zh-CN" altLang="en-US" sz="1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：只对 </a:t>
            </a:r>
            <a:r>
              <a:rPr lang="en-US" altLang="zh-CN" sz="1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Top-50 </a:t>
            </a:r>
            <a:r>
              <a:rPr lang="zh-CN" altLang="en-US" sz="1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精排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传统方法不一定更快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BM25 </a:t>
            </a:r>
            <a:r>
              <a:rPr lang="zh-CN" altLang="en-US" sz="1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比向量检索慢 </a:t>
            </a:r>
            <a:r>
              <a:rPr lang="en-US" altLang="zh-CN" sz="1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4000 </a:t>
            </a:r>
            <a:r>
              <a:rPr lang="zh-CN" altLang="en-US" sz="14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倍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506017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BD489-A5CA-2E3A-A0B3-5831BE468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D98F6682-B7F3-4633-41B0-4D2F268B72A9}"/>
              </a:ext>
            </a:extLst>
          </p:cNvPr>
          <p:cNvSpPr/>
          <p:nvPr/>
        </p:nvSpPr>
        <p:spPr>
          <a:xfrm>
            <a:off x="0" y="0"/>
            <a:ext cx="12192000" cy="821232"/>
          </a:xfrm>
          <a:prstGeom prst="rect">
            <a:avLst/>
          </a:prstGeom>
          <a:solidFill>
            <a:srgbClr val="194A9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9" name="Freeform 21">
            <a:extLst>
              <a:ext uri="{FF2B5EF4-FFF2-40B4-BE49-F238E27FC236}">
                <a16:creationId xmlns:a16="http://schemas.microsoft.com/office/drawing/2014/main" id="{1AE3E6F7-846B-16CA-2A02-217A58F95F8A}"/>
              </a:ext>
            </a:extLst>
          </p:cNvPr>
          <p:cNvSpPr/>
          <p:nvPr/>
        </p:nvSpPr>
        <p:spPr>
          <a:xfrm>
            <a:off x="9196624" y="0"/>
            <a:ext cx="2834731" cy="840599"/>
          </a:xfrm>
          <a:custGeom>
            <a:avLst/>
            <a:gdLst/>
            <a:ahLst/>
            <a:cxnLst/>
            <a:rect l="l" t="t" r="r" b="b"/>
            <a:pathLst>
              <a:path w="2642215" h="793112">
                <a:moveTo>
                  <a:pt x="0" y="0"/>
                </a:moveTo>
                <a:lnTo>
                  <a:pt x="2642216" y="0"/>
                </a:lnTo>
                <a:lnTo>
                  <a:pt x="2642216" y="793112"/>
                </a:lnTo>
                <a:lnTo>
                  <a:pt x="0" y="7931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19" name="请勿抄袭搬运！盗版必究！微信DAJU_PPT">
            <a:extLst>
              <a:ext uri="{FF2B5EF4-FFF2-40B4-BE49-F238E27FC236}">
                <a16:creationId xmlns:a16="http://schemas.microsoft.com/office/drawing/2014/main" id="{D2D46787-58ED-13EF-C78B-B37648701199}"/>
              </a:ext>
            </a:extLst>
          </p:cNvPr>
          <p:cNvSpPr txBox="1"/>
          <p:nvPr/>
        </p:nvSpPr>
        <p:spPr>
          <a:xfrm>
            <a:off x="370956" y="155028"/>
            <a:ext cx="6464300" cy="51117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US" altLang="zh-CN" sz="3600">
                <a:solidFill>
                  <a:srgbClr val="FFFFFF"/>
                </a:solidFill>
                <a:latin typeface="微软雅黑" charset="-122"/>
                <a:ea typeface="微软雅黑" charset="-122"/>
              </a:rPr>
              <a:t>7-Bad Case </a:t>
            </a:r>
            <a:r>
              <a:rPr lang="zh-CN" altLang="en-US" sz="3600">
                <a:solidFill>
                  <a:srgbClr val="FFFFFF"/>
                </a:solidFill>
                <a:latin typeface="微软雅黑" charset="-122"/>
                <a:ea typeface="微软雅黑" charset="-122"/>
              </a:rPr>
              <a:t>分析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0D660F94-AC6C-3435-3A39-026584A2AA1D}"/>
              </a:ext>
            </a:extLst>
          </p:cNvPr>
          <p:cNvSpPr txBox="1">
            <a:spLocks/>
          </p:cNvSpPr>
          <p:nvPr/>
        </p:nvSpPr>
        <p:spPr>
          <a:xfrm>
            <a:off x="9505122" y="6588263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A330ECBB-EFA0-4B67-A466-676224D8611D}" type="slidenum">
              <a:rPr lang="zh-CN" altLang="en-US" sz="1200" smtClean="0">
                <a:solidFill>
                  <a:prstClr val="black">
                    <a:tint val="75000"/>
                  </a:prstClr>
                </a:solidFill>
                <a:latin typeface="微软雅黑" charset="-122"/>
                <a:ea typeface="微软雅黑" charset="-122"/>
              </a:rPr>
              <a:pPr algn="r">
                <a:defRPr/>
              </a:pPr>
              <a:t>8</a:t>
            </a:fld>
            <a:endParaRPr lang="zh-CN" altLang="en-US" sz="1200" dirty="0">
              <a:solidFill>
                <a:prstClr val="black">
                  <a:tint val="75000"/>
                </a:prstClr>
              </a:solidFill>
              <a:latin typeface="微软雅黑" charset="-122"/>
              <a:ea typeface="微软雅黑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F8760D9-A327-437E-8701-1CC974080F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823" y="1091998"/>
            <a:ext cx="10756980" cy="5476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160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BD489-A5CA-2E3A-A0B3-5831BE468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D98F6682-B7F3-4633-41B0-4D2F268B72A9}"/>
              </a:ext>
            </a:extLst>
          </p:cNvPr>
          <p:cNvSpPr/>
          <p:nvPr/>
        </p:nvSpPr>
        <p:spPr>
          <a:xfrm>
            <a:off x="0" y="0"/>
            <a:ext cx="12192000" cy="821232"/>
          </a:xfrm>
          <a:prstGeom prst="rect">
            <a:avLst/>
          </a:prstGeom>
          <a:solidFill>
            <a:srgbClr val="194A9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9" name="Freeform 21">
            <a:extLst>
              <a:ext uri="{FF2B5EF4-FFF2-40B4-BE49-F238E27FC236}">
                <a16:creationId xmlns:a16="http://schemas.microsoft.com/office/drawing/2014/main" id="{1AE3E6F7-846B-16CA-2A02-217A58F95F8A}"/>
              </a:ext>
            </a:extLst>
          </p:cNvPr>
          <p:cNvSpPr/>
          <p:nvPr/>
        </p:nvSpPr>
        <p:spPr>
          <a:xfrm>
            <a:off x="9196624" y="0"/>
            <a:ext cx="2834731" cy="840599"/>
          </a:xfrm>
          <a:custGeom>
            <a:avLst/>
            <a:gdLst/>
            <a:ahLst/>
            <a:cxnLst/>
            <a:rect l="l" t="t" r="r" b="b"/>
            <a:pathLst>
              <a:path w="2642215" h="793112">
                <a:moveTo>
                  <a:pt x="0" y="0"/>
                </a:moveTo>
                <a:lnTo>
                  <a:pt x="2642216" y="0"/>
                </a:lnTo>
                <a:lnTo>
                  <a:pt x="2642216" y="793112"/>
                </a:lnTo>
                <a:lnTo>
                  <a:pt x="0" y="7931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19" name="请勿抄袭搬运！盗版必究！微信DAJU_PPT">
            <a:extLst>
              <a:ext uri="{FF2B5EF4-FFF2-40B4-BE49-F238E27FC236}">
                <a16:creationId xmlns:a16="http://schemas.microsoft.com/office/drawing/2014/main" id="{D2D46787-58ED-13EF-C78B-B37648701199}"/>
              </a:ext>
            </a:extLst>
          </p:cNvPr>
          <p:cNvSpPr txBox="1"/>
          <p:nvPr/>
        </p:nvSpPr>
        <p:spPr>
          <a:xfrm>
            <a:off x="370956" y="155028"/>
            <a:ext cx="6464300" cy="51117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lang="en-US" altLang="zh-CN" sz="3600">
                <a:solidFill>
                  <a:srgbClr val="FFFFFF"/>
                </a:solidFill>
                <a:latin typeface="微软雅黑" charset="-122"/>
                <a:ea typeface="微软雅黑" charset="-122"/>
              </a:rPr>
              <a:t>8-</a:t>
            </a:r>
            <a:r>
              <a:rPr lang="zh-CN" altLang="en-US" sz="3600">
                <a:solidFill>
                  <a:srgbClr val="FFFFFF"/>
                </a:solidFill>
                <a:latin typeface="微软雅黑" charset="-122"/>
                <a:ea typeface="微软雅黑" charset="-122"/>
              </a:rPr>
              <a:t>总结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0D660F94-AC6C-3435-3A39-026584A2AA1D}"/>
              </a:ext>
            </a:extLst>
          </p:cNvPr>
          <p:cNvSpPr txBox="1">
            <a:spLocks/>
          </p:cNvSpPr>
          <p:nvPr/>
        </p:nvSpPr>
        <p:spPr>
          <a:xfrm>
            <a:off x="9505122" y="6588263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A330ECBB-EFA0-4B67-A466-676224D8611D}" type="slidenum">
              <a:rPr lang="zh-CN" altLang="en-US" sz="1200" smtClean="0">
                <a:solidFill>
                  <a:prstClr val="black">
                    <a:tint val="75000"/>
                  </a:prstClr>
                </a:solidFill>
                <a:latin typeface="微软雅黑" charset="-122"/>
                <a:ea typeface="微软雅黑" charset="-122"/>
              </a:rPr>
              <a:pPr algn="r">
                <a:defRPr/>
              </a:pPr>
              <a:t>9</a:t>
            </a:fld>
            <a:endParaRPr lang="zh-CN" altLang="en-US" sz="1200" dirty="0">
              <a:solidFill>
                <a:prstClr val="black">
                  <a:tint val="75000"/>
                </a:prstClr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5B5E60A-49CC-481E-A686-FF204BA64787}"/>
              </a:ext>
            </a:extLst>
          </p:cNvPr>
          <p:cNvSpPr txBox="1"/>
          <p:nvPr/>
        </p:nvSpPr>
        <p:spPr>
          <a:xfrm>
            <a:off x="370956" y="1044414"/>
            <a:ext cx="7247046" cy="5439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核心成果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完整跑通四阶段检索流水线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三种方案横向对比，全量数据评估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重排相比纯召回 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Recall@10 +3.2%</a:t>
            </a:r>
          </a:p>
          <a:p>
            <a:pPr>
              <a:lnSpc>
                <a:spcPct val="125000"/>
              </a:lnSpc>
            </a:pPr>
            <a:endParaRPr lang="en-US" altLang="zh-CN" sz="200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技术亮点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加入 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BM25 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基线，验证语义检索的必要性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三种评估指标多维度衡量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工程权衡分析（精度 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vs 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耗时）</a:t>
            </a:r>
            <a:endParaRPr lang="en-US" altLang="zh-CN" sz="200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endParaRPr lang="zh-CN" altLang="en-US" sz="200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3.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未来改进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召回深度 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Top-K 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消融实验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BM25 + Dense 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混合检索（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RRF 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融合）</a:t>
            </a: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复用至期末项目（三高知识问答系统）</a:t>
            </a:r>
          </a:p>
        </p:txBody>
      </p:sp>
    </p:spTree>
    <p:extLst>
      <p:ext uri="{BB962C8B-B14F-4D97-AF65-F5344CB8AC3E}">
        <p14:creationId xmlns:p14="http://schemas.microsoft.com/office/powerpoint/2010/main" val="1449058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1191650"/>
  <p:tag name="MH_LIBRARY" val="GRAPHIC"/>
  <p:tag name="MH_TYPE" val="Other"/>
  <p:tag name="MH_ORDER" val="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1191650"/>
  <p:tag name="MH_LIBRARY" val="GRAPHIC"/>
  <p:tag name="MH_TYPE" val="Other"/>
  <p:tag name="MH_ORDER" val="8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10143</TotalTime>
  <Words>1343</Words>
  <Application>Microsoft Office PowerPoint</Application>
  <PresentationFormat>宽屏</PresentationFormat>
  <Paragraphs>123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PingFang SC</vt:lpstr>
      <vt:lpstr>等线</vt:lpstr>
      <vt:lpstr>KaiTi</vt:lpstr>
      <vt:lpstr>KaiTi</vt:lpstr>
      <vt:lpstr>微软雅黑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煜茗 尚</dc:creator>
  <cp:lastModifiedBy>骁</cp:lastModifiedBy>
  <cp:revision>449</cp:revision>
  <dcterms:created xsi:type="dcterms:W3CDTF">2025-04-24T02:17:36Z</dcterms:created>
  <dcterms:modified xsi:type="dcterms:W3CDTF">2026-05-02T17:19:27Z</dcterms:modified>
</cp:coreProperties>
</file>